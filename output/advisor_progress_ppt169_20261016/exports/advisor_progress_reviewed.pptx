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  <Relationship Id="rId3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本课题研究未知残差放大器非线性下的数字后台校准。Gu提供架构与算法基线。汇报按已经确认的七个研究模块组织，科学证据截至2026-10-15。一般未知增益完整理论、新算法公平优胜及真实芯片适用性尚未完成。</a:t>
            </a:r>
          </a:p>
          <a:p>
            <a:endParaRPr lang="en-US" dirty="0"/>
          </a:p>
          <a:p>
            <a:r>
              <a:rPr lang="zh-CN" dirty="0"/>
              <a:t>来源：D:/ADC/docs/PROJECT_CHARTER.md；D:/ADC/docs/STATUS.md；D:/ADC/docs/reports/ADVISOR_PROGRESS_REPORT_OUTLINE_2026-10-16.md。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主问题是学习信息怎样形成实际系数历史、留下哪些输出误差，以及同数字信息和表示还允许改善多少。现有有限场景的来源解释已经形成阶段交付。平台的模拟真值和理想输入只用于离线评价。下一步重点是具体信息条件是否足以评价有益方向，随后还要区分算法发现方向与从同初态达到、保持。</a:t>
            </a:r>
          </a:p>
          <a:p>
            <a:endParaRPr lang="en-US" dirty="0"/>
          </a:p>
          <a:p>
            <a:r>
              <a:rPr lang="zh-CN" dirty="0"/>
              <a:t>来源：D:/ADC/docs/RESEARCH_PLAN_STATIC_FIXED_POINT_DIAGNOSTICS_2026-10-10.md；D:/ADC/docs/STATUS.md。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模块一至三提供平台、条件理论和实现基础。模块四解释信息及目标，模块五解释学习过程，模块六评价完整后台输出，模块七用受控对照检查误差来源与改善空间。七模块是研究分类，四阶段是推进路线，不用模块数量衡量阶段完成度。</a:t>
            </a:r>
          </a:p>
          <a:p>
            <a:endParaRPr lang="en-US" dirty="0"/>
          </a:p>
          <a:p>
            <a:r>
              <a:rPr lang="zh-CN" dirty="0"/>
              <a:t>来源：D:/ADC/docs/reports/PROJECT_STRUCTURE_AND_RESEARCH_REVIEW_2026-10-16.md。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图只概括行为模型的信号与信息关系。前级主残余送后级CDAC，辅助路径用于后级Flash判决。内部数字接口是两级symbol、末级centered code和两级dither tag。主辅静态或动态关系属于各配置的明确假设。图没有表达完整芯片时钟、模拟开关及全部前景校准。数字算法不读取理想输入、真实模拟曲线或离线目标。后级数字校正结果会参与前级局部重构及学习。</a:t>
            </a:r>
          </a:p>
          <a:p>
            <a:endParaRPr lang="en-US" dirty="0"/>
          </a:p>
          <a:p>
            <a:r>
              <a:rPr lang="zh-CN" dirty="0"/>
              <a:t>来源：D:/ADC/simulink_adc/README.md；D:/ADC/docs/reports/RESEARCH_MODULE_01_PLATFORM_V1.md；D:/ADC/docs/stages/03_gu_baseline/ONLINE_INFORMATION_BOUNDARY_AUDIT_V1.md。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-003对4096个理想码中心检查重构、单调性和缺失码。非理想控制将正确重构与不可纠正、过载及裁剪分开。Simulink独立实现覆盖23组、82,343次转换。数字及学习记录数值相等，模拟浮点量按预定容差验收。成果是声明行为条件内的平台可靠性，真实器件和未公开内部时序仍需额外证据。</a:t>
            </a:r>
          </a:p>
          <a:p>
            <a:endParaRPr lang="en-US" dirty="0"/>
          </a:p>
          <a:p>
            <a:r>
              <a:rPr lang="zh-CN" dirty="0"/>
              <a:t>来源：D:/ADC/docs/reports/STAGE1_PLATFORM_ACCEPTANCE_V1.md；D:/ADC/simulink_adc/VALIDATION.md；D:/ADC/simulink_adc/adc_behavioral.slx。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各级阈值反算到ADC输入端，可以划分判决与最终码不变的输入区间。一个码可能对应多个区间，需合计码宽。给定正弦时可计算跨界时刻、连续周期谱或有限采样码。连续周期谱与有限记录谱有不同口径。范围传播需覆盖所有允许分支，不能只检验几条端点轨迹。早期分段一次模拟传输是可精确核对的特例，不由数字PWL推得。</a:t>
            </a:r>
          </a:p>
          <a:p>
            <a:endParaRPr lang="en-US" dirty="0"/>
          </a:p>
          <a:p>
            <a:r>
              <a:rPr lang="zh-CN" dirty="0"/>
              <a:t>来源：D:/ADC/docs/reports/RESEARCH_MODULE_02_PREDICTION_V1.md；D:/ADC/docs/theory/UNKNOWN_GAIN_END_TO_END_FRAMEWORK_V0_1.md。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-015在四类固定条件、262,144个未参与构建的测试输入上核对最终码与可纠正状态。EXP-016核对18条有限记录、589,824个平台样本的码及评分。EXP-038的人工静态扫描控制给出较宽条件性频谱界限。严格数值覆盖与较窄物理约束分别判断。现有扫描并非Cadence或硅后实测。</a:t>
            </a:r>
          </a:p>
          <a:p>
            <a:endParaRPr lang="en-US" dirty="0"/>
          </a:p>
          <a:p>
            <a:r>
              <a:rPr lang="zh-CN" dirty="0"/>
              <a:t>来源：D:/ADC/docs/reports/experiments/EXP_015_STAGE2_STATIC_TRANSFER_V0_1.md；D:/ADC/docs/reports/experiments/EXP_016_STAGE2_STATIC_SPECTRUM_V0_1.md；D:/ADC/docs/reports/experiments/EXP_038_CERTIFIED_SPECTRUM_V1.md。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候选前后级各四个斜率，PWL段间偏移由之前各段累计构成。后级先校正，再重构前级局部量并处理dither副本。Q3为数据保留3个二进制小数位，Q1.10为接口保留10小数位，Q22为内部更新累加精度。EXP-013的10小数位累加器控制中有效更新都舍入为零，提高内部精度才能保存小更新。接口暂时不变不表示隐藏状态已经停止。</a:t>
            </a:r>
          </a:p>
          <a:p>
            <a:endParaRPr lang="en-US" dirty="0"/>
          </a:p>
          <a:p>
            <a:r>
              <a:rPr lang="zh-CN" dirty="0"/>
              <a:t>来源：D:/ADC/docs/reports/RESEARCH_MODULE_03_IMPLEMENTATION_V1.md；D:/ADC/docs/reports/experiments/EXP_013_FIXED_LMS_ACCUMULATOR_V1.md；D:/ADC/docs/reports/GU_ALGORITHM_EVALUATION_V1.md §4。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单级、两级冻结系数和逐转换在线RTL有各自有限功能核对。等价整数约分减少粗糙宽算术的实现冗余，不改变算法规则。Artix-7原基线2548 LUT、184 FF、4 DSP、0 BRAM，100 MHz约束下WNS=-50.309 ns，WHS=-0.079 ns。此结果未满足时序。现有RTL逐转换提交，尚未实现后期120槽窗口聚合。两份旧电路汇报验收JSON缺失，保留不可复算范围。FPGA资源不能换算为ASIC面积或3 GS/s芯片实现能力。</a:t>
            </a:r>
          </a:p>
          <a:p>
            <a:endParaRPr lang="en-US" dirty="0"/>
          </a:p>
          <a:p>
            <a:r>
              <a:rPr lang="zh-CN" dirty="0"/>
              <a:t>来源：D:/ADC/docs/reports/CIRCUIT_REVIEW_VIVADO_RESULTS_2026-10-11.md；D:/ADC/rtl/README.md；D:/ADC/docs/reports/RESEARCH_MODULE_03_IMPLEMENTATION_V1.md。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-020构造两条严格单调的人工静态传输。16,384条训练记录未访问差异区间，因此五字段与最终码相同。另一条8,192点正弦记录有2个最终码不同。小差异足以否定这批有限训练对该记录的唯一确定性，但不提供芯片误差大小或继续观测无效的证据。原数值反例未启用数字PWL。后续完整历史反例和已知正弦条件在各自定义下分别成立，不能互换。</a:t>
            </a:r>
          </a:p>
          <a:p>
            <a:endParaRPr lang="en-US" dirty="0"/>
          </a:p>
          <a:p>
            <a:r>
              <a:rPr lang="zh-CN" dirty="0"/>
              <a:t>来源：D:/ADC/docs/reports/experiments/EXP_020_UNKNOWN_GAIN_IDENTIFIABILITY_V1.md；D:/ADC/docs/reports/RESEARCH_MODULE_04_INFORMATION_V1.md。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-022固定其他系数、同一三次模拟曲线及同一训练码中心记录，只扫描第一级第一系数。相关零点k=1.0100002332432263，MAE=0.9206832062468951。MAE最小点k=1.0026077433840184，MAE=0.6570116136496067。图按模块报告舍入。此处评价未裁剪浮点输出的平均绝对误差，不与后期整数MSE混合。原参考状态有8条裁剪，但排除这些记录的控制仍保留目标差异。这个固定记录对照不证明完整八系数闭环已到达该相关根。</a:t>
            </a:r>
          </a:p>
          <a:p>
            <a:endParaRPr lang="en-US" dirty="0"/>
          </a:p>
          <a:p>
            <a:r>
              <a:rPr lang="zh-CN" dirty="0"/>
              <a:t>来源：D:/ADC/artifacts/runs/EXP_022/frozen_v2_20261001/summary.json，datasets.training_code_centers；D:/ADC/docs/reports/experiments/EXP_022_K1_OBJECTIVE_AUDIT_V1.md。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别定义观测、表示与策略集合。当前字固定映射的误差下限只适用于其函数集合。较好的固定系数说明表示可达某离线结果，构造依赖目标，不证明同初态在线可达到。局部相关统计可区分系数变化也不足以保证与最终损失目标相容。可信正弦条件能认证一个给定方向，与算法自己发现该方向分别判断。现有结果没有证明Gu全部数字统计或完整历史都不足。</a:t>
            </a:r>
          </a:p>
          <a:p>
            <a:endParaRPr lang="en-US" dirty="0"/>
          </a:p>
          <a:p>
            <a:r>
              <a:rPr lang="zh-CN" dirty="0"/>
              <a:t>来源：D:/ADC/docs/theory/OBSERVATION_CORRECTION_LIMITS_V1.md；D:/ADC/docs/reports/RESEARCH_MODULE_04_INFORMATION_V1.md；D:/ADC/docs/STATUS.md。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项目窗口候选在120个转换中保持旧系数输出，末尾统一提交。point30采用首四字，其原始相关和乘30。full120采用全部120字，相关和乘1，固定分母120。这是明确候选，芯片真实聚合与广播未完全公开。乘30在适当条件下对齐平均尺度，但未增加观测量。独立同方差条件下可推估计方差比例，真实门控、相位和反馈不自动满足独立性。动态状态在全部转换推进，未采用转换不能跳过。</a:t>
            </a:r>
          </a:p>
          <a:p>
            <a:endParaRPr lang="en-US" dirty="0"/>
          </a:p>
          <a:p>
            <a:r>
              <a:rPr lang="zh-CN" dirty="0"/>
              <a:t>来源：D:/ADC/docs/reports/RESEARCH_MODULE_05_LEARNING_V1.md；D:/ADC/docs/theory/FOUR_LANE_WINDOW_DYNAMIC_LEARNING_V1.md；D:/ADC/simulink_adc/README.md。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-056为明确的单级、单斜率、无记忆控制。无量化时，增益0.975的正确逆增益约1.025641，与解析均值和长记录相容。固定步长仍导致持续波动。小摆幅和直流量化控制的相关平衡为1.024，更多全样本降低波动但不消除均值偏差。量化误差可能与dither相关。三个现象依赖不同条件，不能直接套用为完整两级系统的统一时间常数或稳态保证。</a:t>
            </a:r>
          </a:p>
          <a:p>
            <a:endParaRPr lang="en-US" dirty="0"/>
          </a:p>
          <a:p>
            <a:r>
              <a:rPr lang="zh-CN" dirty="0"/>
              <a:t>来源：D:/ADC/docs/reports/experiments/EXP_056_MILLION_SCALAR_STATISTICS_V1.md；D:/ADC/docs/theory/MILLION_SAMPLE_SCALAR_MEAN_NOISE_AND_QUANTIZATION_V1.md。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训练后冻结评分检验某检查点系数。持续后台评分保留所有转换且继续更新，含校正与适应的共同效果。Simulink性能演示属于full120浮点训练并在检查点评分，不等于后期Q3/Q1.10/Q22持续后台路径。后期实验分别看启动、后期及输入切换，保留全部种子、不利时间块和失败。页上时间条仅为方法示意，无实际预算比例。</a:t>
            </a:r>
          </a:p>
          <a:p>
            <a:endParaRPr lang="en-US" dirty="0"/>
          </a:p>
          <a:p>
            <a:r>
              <a:rPr lang="zh-CN" dirty="0"/>
              <a:t>来源：D:/ADC/docs/reports/RESEARCH_MODULE_06_BACKGROUND_PERFORMANCE_V1.md；D:/ADC/simulink_adc/PERFORMANCE_DEMO.md；EXP-062、069、070原报告。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-069同数字流、同输出时长，仅改变共同学习率倍率。图为四样本方式后期整数MSE五种子均值。线性条件单位不更新15.827、原步长33.945、1/4步长9.288。平滑条件依次32.176、34.406、10.166码²。两组1/4均为五种子改善。数字MSE按最终整数码与理想电平比较并保留直流。该批收益不确定全局最优，也不证明持续稳定或任意输入改善。</a:t>
            </a:r>
          </a:p>
          <a:p>
            <a:endParaRPr lang="en-US" dirty="0"/>
          </a:p>
          <a:p>
            <a:r>
              <a:rPr lang="zh-CN" dirty="0"/>
              <a:t>来源：D:/ADC/docs/reports/experiments/EXP_069_GU_LEARNING_RATE_V1.md；D:/ADC/docs/reports/RESEARCH_MODULE_06_BACKGROUND_PERFORMANCE_V1.md。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-070幅度0.82降0.41，完整隐藏状态和全局时刻承接。恢复定义比较承接旧状态与从新单位初值启动的路径，二者先有输出收益，再连续满足接近条件。这里表格为full120，不是上一页point30。原步长两模型末端各5/5并维持至终点。1/4线性0/5、平滑2/5。有限恢复计数不估总体失败概率；小步长后期误差更好也不能据此宣布恢复统一更快。</a:t>
            </a:r>
          </a:p>
          <a:p>
            <a:endParaRPr lang="en-US" dirty="0"/>
          </a:p>
          <a:p>
            <a:r>
              <a:rPr lang="zh-CN" dirty="0"/>
              <a:t>来源：D:/ADC/docs/reports/experiments/EXP_070_GU_LEARNING_RATE_SWITCH_V1.md；D:/ADC/docs/reports/RESEARCH_MODULE_06_BACKGROUND_PERFORMANCE_V1.md。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批主要研究原both_smooth，种子202610621—625，倍率1及1/4，两个已保存起点，评价[128,136)八块。活动bank重算自身门、请求、Q22状态和输出。原静态数字源不依赖改变的数字系数，使同源未来对照成立。保持级、切断学习连接、混合学习数值与门来源，均有明确定义。代数删除旧历史项与重新传播未来干预分别判断。后级进入前级数字学习的关系，不等于模拟前级不会影响后级。</a:t>
            </a:r>
          </a:p>
          <a:p>
            <a:endParaRPr lang="en-US" dirty="0"/>
          </a:p>
          <a:p>
            <a:r>
              <a:rPr lang="zh-CN" dirty="0"/>
              <a:t>来源：D:/ADC/docs/reports/experiments/EXP_072_NORMAL_STATE_INTERVENTION_V1.md；D:/ADC/docs/reports/experiments/EXP_073_BANK_FEEDBACK_INTERVENTION_V1.md；EXP-074—077原报告。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P-075保持后级原隐藏状态，从各例同初态运行前级完整反馈。散点为保存的整期整数MSE，每例x为四样本、y为全样本，共20点，同轴范围0..60。全槽相对四字20/20改善并按原目标条件认证。全槽相对保持6例增损均认证，14例名义改善中一项小改善未认证。全样本30倍前级观测，不代表同成本、频谱、启动、恢复或未知输入优胜。整期均改善也不代表所有160个时间块均改善。部分点接近或重叠，未作抖动。</a:t>
            </a:r>
          </a:p>
          <a:p>
            <a:endParaRPr lang="en-US" dirty="0"/>
          </a:p>
          <a:p>
            <a:r>
              <a:rPr lang="zh-CN" dirty="0"/>
              <a:t>来源：D:/ADC/artifacts/runs/EXP_075/front_sampling_v1/results.json；D:/ADC/docs/reports/experiments/EXP_075_FRONT_SAMPLING_INTERVENTION_V1.md。展示值另存sources/exp075_presentation_values.json，保留来源SHA256。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例全槽对保持增损中，4例平均位置与持续变化均不利，2例有益位置被变化抵消。平均位置为离线历史参照，不一定是合法整数状态。四坏均值处的固定连续方向2增损、2减损，平均相关量均非零且局部统计满秩，不能统一为方向错误、参数不可区分或坏根收敛。持续变化条件项包含与输出及目标的交叉，不能称为纯方差或独立物理份额。</a:t>
            </a:r>
          </a:p>
          <a:p>
            <a:endParaRPr lang="en-US" dirty="0"/>
          </a:p>
          <a:p>
            <a:r>
              <a:rPr lang="zh-CN" dirty="0"/>
              <a:t>来源：D:/ADC/docs/STATUS.md；D:/ADC/docs/theory/STATIC_CASCADE_MILLION_SUPPORT_AND_PROJECTION_V1.md §29—45；D:/ADC/docs/reports/RESEARCH_MODULE_07_ERROR_MECHANISMS_V1.md。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仅种子625前缀起点、1/4的一例。原全槽MSE3.333927623；使用原未来均值构造第二门3.059911930；可见合法初态构造门3.445446290；保持3.194836766；旧离线合法系数W为1.920095347码²。均值门和初态门均重算完整前级反馈，后级保持。未来均值是离线信息。W依赖离线目标且低两初态不同，不能当同初态在线可达结果。初态门失败只否定这一具体参照，不能证明所有有益门都需未来信息。原不利块、未认证和完整成本合同失败均保留。</a:t>
            </a:r>
          </a:p>
          <a:p>
            <a:endParaRPr lang="en-US" dirty="0"/>
          </a:p>
          <a:p>
            <a:r>
              <a:rPr lang="zh-CN" dirty="0"/>
              <a:t>来源：D:/ADC/docs/reports/experiments/EXP_076_FIXED_MEAN_GATE_INTERVENTION_V1.md；D:/ADC/docs/reports/experiments/EXP_077_INITIAL_GATE_INTERVENTION_V1.md；D:/ADC/docs/STATUS.md。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时间权重和门状态解释不同环节。旧记录有一例固定时间权重已翻向，另一例需保留自身门变化。后级传导在指定干预下有益、有害并存，不能统一删除。原20个合法固定见证都优于新全槽，见证使用离线目标。给定方向的损失评价、实际移动请求累计、最终整数MSE和完整未来干预的结果各有合同，不合成为唯一百分比。</a:t>
            </a:r>
          </a:p>
          <a:p>
            <a:endParaRPr lang="en-US" dirty="0"/>
          </a:p>
          <a:p>
            <a:r>
              <a:rPr lang="zh-CN" dirty="0"/>
              <a:t>来源：D:/ADC/docs/theory/STATIC_CASCADE_MILLION_SUPPORT_AND_PROJECTION_V1.md §29—45；D:/ADC/docs/reports/RESEARCH_SYNTHESIS_2026-10-10.md §77。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点分别总结研究基础、目标关系、持续学习评价及有限归因。课题已从实现基线进一步推进到有条件解释学习与输出误差，尚未完成一般未知增益理论或同成本新算法。软件一致性、数学条件、有限行为结果和物理适用性分别判断。</a:t>
            </a:r>
          </a:p>
          <a:p>
            <a:endParaRPr lang="en-US" dirty="0"/>
          </a:p>
          <a:p>
            <a:r>
              <a:rPr lang="zh-CN" dirty="0"/>
              <a:t>来源：D:/ADC/docs/STATUS.md；D:/ADC/docs/reports/GU_ALGORITHM_EVALUATION_V1.md §9.3。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研究先选择哪项实际可见信息或可信输入条件，能够把给定目标方向的评价推进为在线可判断条件。已有相关统计与已知正弦约束提供了具体比较入口，需明确仍缺少的目标信息及充分性或必要性关系。算法发现、同初态到达保持、公平成本及一般输入仍开放。此页说明研究关系，不宣称新实验、算法或硬件实施已经完成。</a:t>
            </a:r>
          </a:p>
          <a:p>
            <a:endParaRPr lang="en-US" dirty="0"/>
          </a:p>
          <a:p>
            <a:r>
              <a:rPr lang="zh-CN" dirty="0"/>
              <a:t>来源：D:/ADC/docs/STATUS.md；D:/ADC/docs/RESEARCH_PLAN_STATIC_FIXED_POINT_DIAGNOSTICS_2026-10-10.md。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AE与MSE有不同单位。EXP-022为未裁剪浮点MAE，EXP-069等为最终整数MSE。SNDR评分去除直流，以基波为参照，因此MSE排序不一定与SNDR相同。SFDR取决于最大杂散，误差总功率相同仍可有不同频率分布。EXP-062四字平滑条件平均SNDR提高0.994 dB，而MSE由32.176升34.406。还需区分先平均dB、先平均功率，以及同观测量与同转换时长。</a:t>
            </a:r>
          </a:p>
          <a:p>
            <a:endParaRPr lang="en-US" dirty="0"/>
          </a:p>
          <a:p>
            <a:r>
              <a:rPr lang="zh-CN" dirty="0"/>
              <a:t>来源：D:/ADC/docs/specifications/ADC_METRICS_PROTOCOL_V1.md；D:/ADC/docs/reports/experiments/EXP_062_SAME_INPUT_BACKGROUND_V1.md；模块四、六。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原文公开数字PWL、累计偏移、dither相关和后级先校正。11位系数含10小数位以及数据保留3小数位有原文来源。Q22内部累加、具体步长、最近偶数舍入、饱和及120槽提交属于项目候选。原文四路750 MHz抽取30，片内相关量保留、聚合及系数广播尚未完全公开。静态三次曲线、部分主辅假设及动态参数均不是芯片提取结果。</a:t>
            </a:r>
          </a:p>
          <a:p>
            <a:endParaRPr lang="en-US" dirty="0"/>
          </a:p>
          <a:p>
            <a:r>
              <a:rPr lang="zh-CN" dirty="0"/>
              <a:t>来源：D:/ADC/docs/reports/GU_ALGORITHM_EVALUATION_V1.md §4；D:/ADC/docs/specifications/GU_ARCHITECTURE_EVIDENCE_V1.md；D:/ADC/docs/stages/03_gu_baseline/DIGITAL_BUS_AND_DUAL_PATH_SOURCE_AUDIT_V1.md。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页码固定，七模块与正文一一对应。每页备注保存解释与主要来源。理论、实验报告和原始记录各有不同职责。当前进展以STATUS为准，旧实验报告中的下一项仅代表历史安排。完整入口为D:/ADC/docs/README.md和D:/ADC/docs/reports/PROJECT_STRUCTURE_AND_RESEARCH_REVIEW_2026-10-16.md。</a:t>
            </a:r>
          </a:p>
          <a:p>
            <a:endParaRPr lang="en-US" dirty="0"/>
          </a:p>
          <a:p>
            <a:r>
              <a:rPr lang="zh-CN" dirty="0"/>
              <a:t>来源：D:/ADC/docs/README.md；本目录README.md；D:/ADC/docs/reports/experiments/README.md。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保留原未认证项、预算与资料边界。EXP-075及旧补分析的门产品漏账或超限、EXP-077完整成本合同失败不能由数值关系核对改写为全部验收通过。原全槽对保持的一项整期小改善仍跨目标范围。Gu确认2003/4001已消费，未来6007/8009未生成评分。旧电路两份JSON缺失，100 MHz失败，工艺PPA未完成。未来均值、目标和合法见证为离线参照，不进入原Gu在线算法。有限完成不等于阶段二三整体完成。</a:t>
            </a:r>
          </a:p>
          <a:p>
            <a:endParaRPr lang="en-US" dirty="0"/>
          </a:p>
          <a:p>
            <a:r>
              <a:rPr lang="zh-CN" dirty="0"/>
              <a:t>来源：D:/ADC/docs/STATUS.md“必须保留的失败、未认证与边界”；D:/ADC/docs/reports/RESEARCH_MODULE_07_ERROR_MECHANISMS_V1.md；D:/ADC/docs/reports/CIRCUIT_REVIEW_VIVADO_RESULTS_2026-10-11.md。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dvisor_progres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dvisor_progres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4850" y="882015"/>
            <a:ext cx="5465978" cy="3019425"/>
            <a:chOff x="704850" y="882015"/>
            <a:chExt cx="5465978" cy="3019425"/>
          </a:xfrm>
        </p:grpSpPr>
        <p:sp>
          <p:nvSpPr>
            <p:cNvPr id="2" name="TextBox 2"/>
            <p:cNvSpPr txBox="1"/>
            <p:nvPr/>
          </p:nvSpPr>
          <p:spPr>
            <a:xfrm>
              <a:off x="752856" y="882015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ADC课题阶段进展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04850" y="2129790"/>
              <a:ext cx="337163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流水线ADC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2967990"/>
              <a:ext cx="546597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数字后台校准研究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1332" y="4029075"/>
            <a:ext cx="10684383" cy="2517934"/>
            <a:chOff x="751332" y="4029075"/>
            <a:chExt cx="10684383" cy="2517934"/>
          </a:xfrm>
        </p:grpSpPr>
        <p:sp>
          <p:nvSpPr>
            <p:cNvPr id="6" name="Line 6"/>
            <p:cNvSpPr/>
            <p:nvPr/>
          </p:nvSpPr>
          <p:spPr>
            <a:xfrm>
              <a:off x="762000" y="4029075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4326255"/>
              <a:ext cx="38295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Gu基线、学习过程与剩余误差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486346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七个研究模块的阶段成果与当前结论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5962650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2026年10月16日 阅读版 v1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6326981"/>
              <a:ext cx="2040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研究证据截至2026年10月15日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7693" y="6326981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课题定位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研究目标与当前进展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8932" y="1697355"/>
            <a:ext cx="5661241" cy="1251204"/>
            <a:chOff x="598932" y="1697355"/>
            <a:chExt cx="5661241" cy="125120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697355"/>
              <a:ext cx="56612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未知模拟非线性下，数字校准能够做到什么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215515"/>
              <a:ext cx="5275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以Gu为基线，研究内部观测怎样推动系数学习，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59651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以及系数变化怎样影响最终码误差和频谱。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8932" y="3190875"/>
            <a:ext cx="10983468" cy="2703195"/>
            <a:chOff x="598932" y="3190875"/>
            <a:chExt cx="10983468" cy="2703195"/>
          </a:xfrm>
        </p:grpSpPr>
        <p:sp>
          <p:nvSpPr>
            <p:cNvPr id="9" name="Line 9"/>
            <p:cNvSpPr/>
            <p:nvPr/>
          </p:nvSpPr>
          <p:spPr>
            <a:xfrm>
              <a:off x="609600" y="3190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932" y="3478530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当前已形成的阶段成果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39871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可复查的行为平台、条件性理论及数字实现基线。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436816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对一批有限场景，已有剩余误差的受控解释。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51492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下一关键关系：实际可见信息如何支持有益的在线调整。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5600700"/>
              <a:ext cx="6680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当前重点为条件理论与Gu基线分析，新算法与芯片适用性仍待独立验证。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6" name="Line 16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3885" y="6374606"/>
              <a:ext cx="3819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依据：项目章程、现行主线与STATUS（2026-10-16）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阅读结构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七个模块的研究安排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456" y="1682115"/>
            <a:ext cx="10543794" cy="3942969"/>
            <a:chOff x="600456" y="1682115"/>
            <a:chExt cx="10543794" cy="3942969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8211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52906" y="16821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实验平台与信号链核对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9606" y="168211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04—05页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2631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52906" y="22631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信号链建模与性能预测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39606" y="2263140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06—07页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84416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2906" y="2844165"/>
              <a:ext cx="32824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Gu算法实现、定点与硬件基线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39606" y="284416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08—09页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162050" y="3314700"/>
              <a:ext cx="9982200" cy="9525"/>
            </a:xfrm>
            <a:custGeom>
              <a:avLst/>
              <a:gdLst/>
              <a:ahLst/>
              <a:cxnLst/>
              <a:rect l="l" t="t" r="r" b="b"/>
              <a:pathLst>
                <a:path w="9982200" h="9525">
                  <a:moveTo>
                    <a:pt x="0" y="0"/>
                  </a:moveTo>
                  <a:lnTo>
                    <a:pt x="9982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456" y="352996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2906" y="352996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数字观测与校正目标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39606" y="352996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10—12页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0456" y="41109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2906" y="41109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激励、抽样与参数更新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39606" y="4110990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13—14页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4692015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2906" y="469201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后台校准的性能、稳定性与适用条件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39606" y="4692015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15—17页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527304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2906" y="52730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剩余误差来源与改善空间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39606" y="5273040"/>
              <a:ext cx="92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18—22页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8" name="Line 28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374606"/>
              <a:ext cx="4524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23—24页：阶段认识与下一步 25—28页：指标、实现口径及证据索引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模块一 实验平台与信号链核对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实验平台的信号与信息边界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456" y="1567815"/>
            <a:ext cx="10905744" cy="2527935"/>
            <a:chOff x="600456" y="1567815"/>
            <a:chExt cx="10905744" cy="2527935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67815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测试平台设置模拟传输，数字算法只读取硬件可提供的信息。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86000"/>
              <a:ext cx="2762250" cy="1095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676775" y="2286000"/>
              <a:ext cx="2762250" cy="1095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743950" y="2286000"/>
              <a:ext cx="2762250" cy="1095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56004" y="24593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4969" y="2943225"/>
              <a:ext cx="2191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判决、CDAC、残余放大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179" y="24593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2144" y="2943225"/>
              <a:ext cx="2191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判决、CDAC、残余放大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69272" y="2459355"/>
              <a:ext cx="11116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末级SAR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3595" y="29432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残余量化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381375" y="2609850"/>
              <a:ext cx="12668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3381375" y="3067050"/>
              <a:ext cx="12668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90950" y="2276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88055" y="3200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辅助判决路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58075" y="2819400"/>
              <a:ext cx="12382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" name="Line 20"/>
            <p:cNvSpPr/>
            <p:nvPr/>
          </p:nvSpPr>
          <p:spPr>
            <a:xfrm>
              <a:off x="1990725" y="3390900"/>
              <a:ext cx="1" cy="7048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6057900" y="3390900"/>
              <a:ext cx="1" cy="7048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10125075" y="3390900"/>
              <a:ext cx="1" cy="7048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173605" y="3676650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判决码、dither标签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0780" y="3676650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判决码、dither标签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74630" y="3676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末级码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456" y="4152900"/>
            <a:ext cx="10905744" cy="1862709"/>
            <a:chOff x="600456" y="4152900"/>
            <a:chExt cx="10905744" cy="1862709"/>
          </a:xfrm>
        </p:grpSpPr>
        <p:sp>
          <p:nvSpPr>
            <p:cNvPr id="27" name="Rectangle 27"/>
            <p:cNvSpPr/>
            <p:nvPr/>
          </p:nvSpPr>
          <p:spPr>
            <a:xfrm>
              <a:off x="609600" y="4152900"/>
              <a:ext cx="10896600" cy="838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28059" y="4269105"/>
              <a:ext cx="38596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两级数字PWL校正与后台学习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30015" y="46672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自身系数状态参与更新，校正后形成最终输出码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0456" y="5301615"/>
              <a:ext cx="5190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主路送往后级CDAC，辅助路用于后级粗判决。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0456" y="56635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理想输入与模拟真值只用于离线评分。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33" name="Line 3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3885" y="6374606"/>
              <a:ext cx="5719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依据：模块一、Simulink README及在线信息边界审查。图为行为模型的关系示意。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模块一 实验平台与信号链核对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平台核对与可交付模型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8932" y="1583055"/>
            <a:ext cx="10983468" cy="3103245"/>
            <a:chOff x="598932" y="1583055"/>
            <a:chExt cx="10983468" cy="3103245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58305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先核对信号链，再用它研究校准机制。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162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2358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理想链路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9356" y="2358390"/>
              <a:ext cx="51553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4096个理想码中心的重构、单调性与缺失码检查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867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0456" y="30822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非理想与失效边界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0822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逐项注入误差，分别记录过载、裁剪与不可纠正状态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590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456" y="3806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3806190"/>
              <a:ext cx="47938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Simulink与Python核对23组、82,343次转换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0880" y="42005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数字与学习记录数值相等，模拟浮点量按预定容差比较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4676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00456" y="5006340"/>
            <a:ext cx="6560820" cy="847344"/>
            <a:chOff x="600456" y="5006340"/>
            <a:chExt cx="6560820" cy="847344"/>
          </a:xfrm>
        </p:grpSpPr>
        <p:sp>
          <p:nvSpPr>
            <p:cNvPr id="18" name="TextBox 18"/>
            <p:cNvSpPr txBox="1"/>
            <p:nvPr/>
          </p:nvSpPr>
          <p:spPr>
            <a:xfrm>
              <a:off x="600456" y="5006340"/>
              <a:ext cx="60824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可交付成果：行为模型、Simulink模型及相应核对记录。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550164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这些证据支持声明模型内的机制研究，物理适用性另需验证。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1" name="Line 21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885" y="6374606"/>
              <a:ext cx="4605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依据：EXP-003、阶段一平台验收、simulink_adc/VALIDATION.md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模块二 信号链建模与性能预测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给定模拟传输下的性能预测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0456" y="1624965"/>
            <a:ext cx="10981944" cy="4009644"/>
            <a:chOff x="600456" y="1624965"/>
            <a:chExt cx="10981944" cy="40096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2496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研究方法：从电压与判决关系独立推导最终输出，再与平台核对。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1886" y="2272665"/>
              <a:ext cx="2778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70457" y="22688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求输入端码转换边界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71981" y="2729865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把后级阈值沿信号链反算，确定每个输出码对应的输入区间。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381125" y="3228975"/>
              <a:ext cx="10201275" cy="9525"/>
            </a:xfrm>
            <a:custGeom>
              <a:avLst/>
              <a:gdLst/>
              <a:ahLst/>
              <a:cxnLst/>
              <a:rect l="l" t="t" r="r" b="b"/>
              <a:pathLst>
                <a:path w="10201275" h="9525">
                  <a:moveTo>
                    <a:pt x="0" y="0"/>
                  </a:moveTo>
                  <a:lnTo>
                    <a:pt x="1020127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1886" y="3549015"/>
              <a:ext cx="2778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0457" y="3545205"/>
              <a:ext cx="32865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连接静态指标与正弦频谱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71981" y="4006215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由区间宽度计算码密度，由正弦跨界时刻或有限记录计算频谱。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81125" y="4505325"/>
              <a:ext cx="10201275" cy="9525"/>
            </a:xfrm>
            <a:custGeom>
              <a:avLst/>
              <a:gdLst/>
              <a:ahLst/>
              <a:cxnLst/>
              <a:rect l="l" t="t" r="r" b="b"/>
              <a:pathLst>
                <a:path w="10201275" h="9525">
                  <a:moveTo>
                    <a:pt x="0" y="0"/>
                  </a:moveTo>
                  <a:lnTo>
                    <a:pt x="1020127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1886" y="4825365"/>
              <a:ext cx="2778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0457" y="48215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传播可信的不确定范围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1981" y="528256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模拟传输或系数只有范围时，保留允许分支，得到输出与性能界限。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8" name="Line 18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885" y="6374606"/>
              <a:ext cx="5312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依据：模块二、未知增益完整链路框架。具体预测依赖声明的模拟与动态条件。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543169" cy="996315"/>
            <a:chOff x="594360" y="361950"/>
            <a:chExt cx="5543169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模块二 信号链建模与性能预测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条件性预测的成果与适用范围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1685925"/>
            <a:ext cx="10972800" cy="3615309"/>
            <a:chOff x="609600" y="1685925"/>
            <a:chExt cx="10972800" cy="3615309"/>
          </a:xfrm>
        </p:grpSpPr>
        <p:sp>
          <p:nvSpPr>
            <p:cNvPr id="5" name="Rectangle 5"/>
            <p:cNvSpPr/>
            <p:nvPr/>
          </p:nvSpPr>
          <p:spPr>
            <a:xfrm>
              <a:off x="609600" y="1685925"/>
              <a:ext cx="109728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0481" y="1834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研究对象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9356" y="1834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已有结果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34706" y="18345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成立条件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0481" y="2453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静态转换特性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9356" y="2453640"/>
              <a:ext cx="3374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四类条件、262,144个测试输入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2815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最终码与可纠正状态一致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34706" y="2453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指定模拟传输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4706" y="28155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明确的判决与重构规则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481" y="3520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有限记录频谱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29356" y="3520440"/>
              <a:ext cx="33985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18条记录、589,824个平台样本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9356" y="3882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输出码与评分结果一致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34706" y="3520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指定输入和采样记录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34706" y="3882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连续周期谱另行评价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4343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0481" y="4587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未知范围传播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29356" y="4587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已有条件性输出与性能界限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9356" y="4949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部分数值界仍较宽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4706" y="4587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需要可信模拟范围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4706" y="49491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当前扫描为人工控制数据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0456" y="5625465"/>
            <a:ext cx="5833872" cy="352044"/>
            <a:chOff x="600456" y="5625465"/>
            <a:chExt cx="5833872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600456" y="562546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阶段结论：预测强度由模型条件与输入资料共同决定。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9" name="Line 2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885" y="6374606"/>
              <a:ext cx="4996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依据：EXP-015、016、038。程序一致性与真实芯片适用性分别评价。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434630" cy="996315"/>
            <a:chOff x="594360" y="361950"/>
            <a:chExt cx="443463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模块三 Gu算法实现、定点与硬件基线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43463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Gu数字校正与定点实现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8932" y="1583055"/>
            <a:ext cx="7654290" cy="851154"/>
            <a:chOff x="598932" y="1583055"/>
            <a:chExt cx="7654290" cy="8511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58305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两级各四个斜率系数，先处理后级，再重构前级局部数字量。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082165"/>
              <a:ext cx="74002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PWL段间偏移由前段累计得到，后台学习按dither相关量调整系数。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695575"/>
            <a:ext cx="10972800" cy="2462784"/>
            <a:chOff x="609600" y="2695575"/>
            <a:chExt cx="10972800" cy="2462784"/>
          </a:xfrm>
        </p:grpSpPr>
        <p:sp>
          <p:nvSpPr>
            <p:cNvPr id="8" name="Rectangle 8"/>
            <p:cNvSpPr/>
            <p:nvPr/>
          </p:nvSpPr>
          <p:spPr>
            <a:xfrm>
              <a:off x="609600" y="2695575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0481" y="2834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57981" y="28346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项目候选精度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91731" y="2834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481" y="345376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数据运算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57981" y="3453765"/>
              <a:ext cx="2284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Q3，保留3个小数位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91731" y="345376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规定校正运算与门判断的分辨率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886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0481" y="4130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校正系数接口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57981" y="4130040"/>
              <a:ext cx="23865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Q1.10，步进1/1024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1731" y="41300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决定实际用于输出的系数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562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0481" y="48063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内部学习状态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7981" y="4806315"/>
              <a:ext cx="2565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Q22，保留22个小数位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1731" y="480631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先累积小更新，再导出接口系数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0456" y="5568315"/>
            <a:ext cx="5833872" cy="352044"/>
            <a:chOff x="600456" y="5568315"/>
            <a:chExt cx="5833872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600456" y="556831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接口系数暂时不变时，内部累加状态仍可能继续变化。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6" name="Line 26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885" y="6374606"/>
              <a:ext cx="5704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依据：模块三、EXP-013、Gu评价§4。Q22及具体舍入／饱和规则属于项目候选。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891888" cy="996315"/>
            <a:chOff x="594360" y="361950"/>
            <a:chExt cx="4891888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420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模块三 Gu算法实现、定点与硬件基线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89188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RTL功能与FPGA实现进展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456" y="1615440"/>
            <a:ext cx="8741664" cy="352044"/>
            <a:chOff x="600456" y="1615440"/>
            <a:chExt cx="8741664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15440"/>
              <a:ext cx="8741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已核对指定候选的最终码、门、更新量和隐藏状态，并用等价算术减少实现冗余。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2287905"/>
            <a:ext cx="5011293" cy="2775204"/>
            <a:chOff x="598932" y="2287905"/>
            <a:chExt cx="5011293" cy="2775204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287905"/>
              <a:ext cx="32034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Artix-7原基线综合结果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71775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0956" y="30251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LUT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39386" y="30251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2548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956" y="3510915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72660" y="3510915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0956" y="3996690"/>
              <a:ext cx="1349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DSP / BRAM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27270" y="3996690"/>
              <a:ext cx="563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/ 0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457700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0956" y="4711065"/>
              <a:ext cx="24825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 MHz建立时间余量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00322" y="47110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−50.309 ns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0456" y="2287905"/>
            <a:ext cx="9220962" cy="3527679"/>
            <a:chOff x="600456" y="2287905"/>
            <a:chExt cx="9220962" cy="3527679"/>
          </a:xfrm>
        </p:grpSpPr>
        <p:sp>
          <p:nvSpPr>
            <p:cNvPr id="19" name="TextBox 19"/>
            <p:cNvSpPr txBox="1"/>
            <p:nvPr/>
          </p:nvSpPr>
          <p:spPr>
            <a:xfrm>
              <a:off x="6409182" y="2287905"/>
              <a:ext cx="30401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 MHz目标尚未通过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0706" y="29298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长路径跨过后级校正、前级重构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0706" y="3291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及前级更新。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0706" y="39204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插入流水寄存器需要重新规定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0706" y="4282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观测对齐与系数生效时刻。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5463540"/>
              <a:ext cx="82753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现有逐转换RTL与120转换窗口实验分别验收，ASIC面积与功耗尚未完成。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6" name="Line 26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885" y="6374606"/>
              <a:ext cx="5216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依据：模块三、Vivado实际验收报告。综合资源与有限功能一致性各自说明。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模块四 数字观测与校正目标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数字观测能够约束什么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456" y="1653540"/>
            <a:ext cx="7299884" cy="752094"/>
            <a:chOff x="600456" y="1653540"/>
            <a:chExt cx="7299884" cy="75209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53540"/>
              <a:ext cx="72998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算法接收两级判决码、末级码和两级dither标签，并保存自身状态。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05359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真实输入电压与模拟放大曲线由研究者在离线评价时使用。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2676525"/>
            <a:ext cx="10983468" cy="3350895"/>
            <a:chOff x="598932" y="2676525"/>
            <a:chExt cx="10983468" cy="3350895"/>
          </a:xfrm>
        </p:grpSpPr>
        <p:sp>
          <p:nvSpPr>
            <p:cNvPr id="8" name="Line 8"/>
            <p:cNvSpPr/>
            <p:nvPr/>
          </p:nvSpPr>
          <p:spPr>
            <a:xfrm>
              <a:off x="609600" y="2676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8932" y="29165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有限训练覆盖的反例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43471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构造两条严格单调的模拟曲线，仅在训练未访问的小区间内不同。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397764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16,384条训练记录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156" y="39776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五字段观测与最终码完全相同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4444365"/>
              <a:ext cx="26231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另一条8,192点正弦记录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77156" y="4444365"/>
              <a:ext cx="1847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最终码有2处不同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8932" y="529780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这批训练观测不足以唯一确定该留出记录的结果。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5734050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增加覆盖或可信物理条件可能缩小不确定性。该结论限定于原反例的信息与输入条件。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885" y="6374606"/>
              <a:ext cx="5244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依据：模块四、EXP-020。原反例为人工静态传输，未启用数字PWL校正。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模块四 数字观测与校正目标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相关量为零与输出误差最小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0456" y="1548765"/>
            <a:ext cx="7287768" cy="697230"/>
            <a:chOff x="600456" y="1548765"/>
            <a:chExt cx="7287768" cy="697230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4876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在同一条三次模拟曲线、同一训练记录上，只改变第一级第一系数。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980" y="1952625"/>
              <a:ext cx="6810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其余系数固定。比较对象为未裁剪浮点输出的平均绝对码误差（MAE）。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7420" y="2295525"/>
            <a:ext cx="5541455" cy="3341370"/>
            <a:chOff x="697420" y="2295525"/>
            <a:chExt cx="5541455" cy="3341370"/>
          </a:xfrm>
        </p:grpSpPr>
        <p:sp>
          <p:nvSpPr>
            <p:cNvPr id="8" name="TextBox 8"/>
            <p:cNvSpPr txBox="1"/>
            <p:nvPr/>
          </p:nvSpPr>
          <p:spPr>
            <a:xfrm>
              <a:off x="1183005" y="229552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MAE（码）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190625" y="26193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90625" y="34766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190625" y="4333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90625" y="519112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42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7420" y="338137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7420" y="42386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9544" y="50958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62125" y="3218021"/>
              <a:ext cx="1333500" cy="19731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33875" y="3783044"/>
              <a:ext cx="1333500" cy="140808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53273" y="28632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0.92068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5023" y="3434715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0.65701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16430" y="53435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相关量零点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5607" y="534352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MAE最小点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52132" y="2592705"/>
            <a:ext cx="3034817" cy="2803779"/>
            <a:chOff x="7152132" y="2592705"/>
            <a:chExt cx="3034817" cy="2803779"/>
          </a:xfrm>
        </p:grpSpPr>
        <p:sp>
          <p:nvSpPr>
            <p:cNvPr id="24" name="TextBox 24"/>
            <p:cNvSpPr txBox="1"/>
            <p:nvPr/>
          </p:nvSpPr>
          <p:spPr>
            <a:xfrm>
              <a:off x="7152132" y="25927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对应系数位置不同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3656" y="3158490"/>
              <a:ext cx="2538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相关量零点：1.010000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3656" y="3558540"/>
              <a:ext cx="2642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MAE最小点：1.002608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53656" y="4244340"/>
              <a:ext cx="30332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Gu利用相关统计间接学习。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53656" y="4644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它与输出目标的一致性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53656" y="5044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需要额外条件。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456" y="5739765"/>
            <a:ext cx="7045452" cy="352044"/>
            <a:chOff x="600456" y="5739765"/>
            <a:chExt cx="7045452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600456" y="573976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该对照说明目标位置可能不同，完整八系数是否收敛需另行判断。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33" name="Line 3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3885" y="6374606"/>
              <a:ext cx="6478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依据：EXP-022 frozen_v2，training_code_centers，16,384条记录。图示数值按报告舍入。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模块四 数字观测与校正目标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信息、表示与在线取得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8932" y="1802130"/>
            <a:ext cx="10983468" cy="4203954"/>
            <a:chOff x="598932" y="1802130"/>
            <a:chExt cx="10983468" cy="42039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02130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观测能否区分有关误差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26314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需要说明输入条件、允许历史，以及额外的可信物理或信号知识。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828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8932" y="3183255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校正结构能否表示较好输出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3644265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可通过合法固定系数和受限误差界，检查现有数字表示的能力。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210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8932" y="4564380"/>
              <a:ext cx="38802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在线算法能否发现并取得改善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50253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需要从相同初态出发，验证可见信息、实际更新、达到与保持。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565404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目前已有信息边界与较好表示的证据，在线取得仍是关键缺口。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5" name="Line 1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3885" y="6374606"/>
              <a:ext cx="5463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依据：模块四、观测与校正能力理论。各类界限只用于其声明的函数或策略集合。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模块五 激励、抽样与参数更新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学习样本与系数提交时刻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932" y="1596390"/>
            <a:ext cx="10364343" cy="4478655"/>
            <a:chOff x="598932" y="1596390"/>
            <a:chExt cx="10364343" cy="4478655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96390"/>
              <a:ext cx="8172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项目窗口候选：每120次转换用旧系数输出，在窗口末尾同时提交两级系数。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373630" y="2171700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采用首4条观测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64830" y="2171700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全部120次转换均产生输出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5774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四样本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381250" y="2543175"/>
              <a:ext cx="8572500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2543175"/>
              <a:ext cx="28575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2452688" y="25431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524125" y="25431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595562" y="25431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72106" y="3082290"/>
              <a:ext cx="42951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相关和乘30，实际仍只有4条学习观测。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38157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81250" y="3781425"/>
              <a:ext cx="8572500" cy="34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72106" y="4320540"/>
              <a:ext cx="3701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采用全部120条观测，相关和乘1。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0953750" y="2419350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chemeClr val="dk2"/>
              </a:solidFill>
              <a:custDash>
                <a:ds d="500000" sp="500000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19110" y="48196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末尾提交，下一转换使用新系数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8932" y="53549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统计缩放不会补回未采用的观测。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578167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固定选样相位、门控和状态关联还可能改变平均统计，不能把全部差别都称为独立噪声。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3" name="Line 2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6374606"/>
              <a:ext cx="5304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依据：模块五、四路窗口合同。point30与full120均为本项目明确的候选语义。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模块五 激励、抽样与参数更新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启动、持续波动与平均偏差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456" y="1596390"/>
            <a:ext cx="7287768" cy="352044"/>
            <a:chOff x="600456" y="1596390"/>
            <a:chExt cx="7287768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9639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先在单级、无记忆、单斜率条件下推导均值关系，再用长记录核对。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2316480"/>
            <a:ext cx="10983468" cy="3403854"/>
            <a:chOff x="598932" y="2316480"/>
            <a:chExt cx="10983468" cy="3403854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31648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启动过程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9356" y="234886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系数尚未接近平均位置，延长学习可能降低这部分误差。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933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932" y="32689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固定步长波动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30136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平均方向正确时，实际系数仍可持续变化。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29356" y="368236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更多重复样本不保证每个时刻都停在平均值。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4238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932" y="45739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量化相关偏差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356" y="4606290"/>
              <a:ext cx="4416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增益0.975的正确逆增益约为1.025641。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29356" y="4987290"/>
              <a:ext cx="52886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小摆幅／直流量化控制的平均相关零点为1.024。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9356" y="53682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全样本降低波动，但没有消除该平均位置差。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885" y="6374606"/>
              <a:ext cx="622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依据：EXP-056、标量统计理论。以上解析结论限定于原单斜率条件，完整两级需另证。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模块六 后台校准的性能、稳定性与适用条件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持续后台运行的评价方法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8932" y="1744980"/>
            <a:ext cx="10640568" cy="1234440"/>
            <a:chOff x="598932" y="1744980"/>
            <a:chExt cx="10640568" cy="123444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44980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训练后冻结系数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2250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先学习，再固定检查点系数进行评分。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6250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用于评价该时刻的校正结果。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0" y="2133600"/>
              <a:ext cx="19050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0" y="2133600"/>
              <a:ext cx="2476500" cy="342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00950" y="26860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89770" y="26860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冻结评分</a:t>
              </a:r>
            </a:p>
          </p:txBody>
        </p:sp>
      </p:grpSp>
      <p:sp>
        <p:nvSpPr>
          <p:cNvPr id="13" name="Line 13"/>
          <p:cNvSpPr/>
          <p:nvPr/>
        </p:nvSpPr>
        <p:spPr>
          <a:xfrm>
            <a:off x="609600" y="32670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598932" y="3659505"/>
            <a:ext cx="10640568" cy="1234440"/>
            <a:chOff x="598932" y="3659505"/>
            <a:chExt cx="10640568" cy="1234440"/>
          </a:xfrm>
        </p:grpSpPr>
        <p:sp>
          <p:nvSpPr>
            <p:cNvPr id="14" name="TextBox 14"/>
            <p:cNvSpPr txBox="1"/>
            <p:nvPr/>
          </p:nvSpPr>
          <p:spPr>
            <a:xfrm>
              <a:off x="598932" y="36595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持续后台运行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41395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转换与学习同时继续，保留全部输出。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4539615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用于评价校正和持续适应共同作用后的净收益。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0" y="4048125"/>
              <a:ext cx="4381500" cy="342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8585" y="46005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学习期间的全部输出参与评分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932" y="5374005"/>
            <a:ext cx="5958078" cy="729615"/>
            <a:chOff x="598932" y="5374005"/>
            <a:chExt cx="5958078" cy="729615"/>
          </a:xfrm>
        </p:grpSpPr>
        <p:sp>
          <p:nvSpPr>
            <p:cNvPr id="20" name="TextBox 20"/>
            <p:cNvSpPr txBox="1"/>
            <p:nvPr/>
          </p:nvSpPr>
          <p:spPr>
            <a:xfrm>
              <a:off x="598932" y="5374005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启动、后期输出与输入变化后的恢复分别评价。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5810250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两种方式回答不同的问题。报告中同时保留码误差与频谱指标。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3" name="Line 2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6374606"/>
              <a:ext cx="64362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依据：模块六、EXP-062、069、070。右侧时间条仅示意评价过程，长度不表示实际预算。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361950"/>
            <a:ext cx="6323076" cy="1398270"/>
            <a:chOff x="594360" y="361950"/>
            <a:chExt cx="6323076" cy="139827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模块六 后台校准的性能、稳定性与适用条件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学习率与后期整数误差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466850"/>
              <a:ext cx="6315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每120转换采用4个样本。同数字流、同输出时长，以下为五种子均值。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4657" y="1924050"/>
            <a:ext cx="6649593" cy="3853434"/>
            <a:chOff x="684657" y="1924050"/>
            <a:chExt cx="6649593" cy="3853434"/>
          </a:xfrm>
        </p:grpSpPr>
        <p:sp>
          <p:nvSpPr>
            <p:cNvPr id="6" name="Rectangle 6"/>
            <p:cNvSpPr/>
            <p:nvPr/>
          </p:nvSpPr>
          <p:spPr>
            <a:xfrm>
              <a:off x="1047750" y="1943100"/>
              <a:ext cx="152400" cy="152400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87780" y="19240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不更新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38425" y="19431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78455" y="19240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原步长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229100" y="1943100"/>
              <a:ext cx="15240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69130" y="1924050"/>
              <a:ext cx="752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1/4步长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130" y="2171700"/>
              <a:ext cx="2234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MSE（码²，越小越好）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" y="23812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47750" y="309562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47750" y="3810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7750" y="452437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47750" y="52387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657" y="22860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657" y="30003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657" y="37147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657" y="4429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719" y="51435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14500" y="4108132"/>
              <a:ext cx="552450" cy="1130618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81250" y="2813780"/>
              <a:ext cx="552450" cy="242497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48000" y="4575238"/>
              <a:ext cx="552450" cy="6635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57750" y="2940177"/>
              <a:ext cx="552450" cy="2298573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524500" y="2780919"/>
              <a:ext cx="552450" cy="24578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91250" y="4512564"/>
              <a:ext cx="552450" cy="72618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49920" y="38290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15.827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6670" y="25336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33.945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38951" y="42957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9.288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93170" y="265747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32.176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59920" y="24955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34.406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26670" y="422910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10.166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79067" y="5425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两级线性增益误差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3475" y="5425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两级平滑非线性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90332" y="2506980"/>
            <a:ext cx="3169920" cy="3129915"/>
            <a:chOff x="7990332" y="2506980"/>
            <a:chExt cx="3169920" cy="3129915"/>
          </a:xfrm>
        </p:grpSpPr>
        <p:sp>
          <p:nvSpPr>
            <p:cNvPr id="38" name="TextBox 38"/>
            <p:cNvSpPr txBox="1"/>
            <p:nvPr/>
          </p:nvSpPr>
          <p:spPr>
            <a:xfrm>
              <a:off x="7990332" y="2506980"/>
              <a:ext cx="288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1/4步长取得后期收益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1856" y="31013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两组各五个种子，均优于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91856" y="34918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对应单位系数不更新参考。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1856" y="4196715"/>
              <a:ext cx="27962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MSE为输出与理想电平差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91856" y="45872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的平方平均，保留直流误差。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93380" y="5343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该结果不确定全局最优步长。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45" name="Line 4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3885" y="6374606"/>
              <a:ext cx="5268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依据：EXP-069、模块六。项目候选步长与论文芯片未公开参数分别说明。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模块六 后台校准的性能、稳定性与适用条件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后期误差与切换恢复的取舍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0456" y="1586865"/>
            <a:ext cx="7287768" cy="1209294"/>
            <a:chOff x="600456" y="1586865"/>
            <a:chExt cx="7287768" cy="120929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86865"/>
              <a:ext cx="7142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归一化输入幅度由0.82降为0.41，保留完整学习状态及全局时刻。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04406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比较承接旧状态与从单位系数重新开始的两条路径。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44411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恢复判据要求两者先各自有收益，再连续满足预定的输出接近条件。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1980" y="3124200"/>
            <a:ext cx="10980420" cy="2250948"/>
            <a:chOff x="601980" y="3124200"/>
            <a:chExt cx="10980420" cy="2250948"/>
          </a:xfrm>
        </p:grpSpPr>
        <p:sp>
          <p:nvSpPr>
            <p:cNvPr id="9" name="TextBox 9"/>
            <p:cNvSpPr txBox="1"/>
            <p:nvPr/>
          </p:nvSpPr>
          <p:spPr>
            <a:xfrm>
              <a:off x="601980" y="31242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下表为全样本方式末端满足恢复判据的种子数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486150"/>
              <a:ext cx="10972800" cy="5048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0481" y="3634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07179" y="3634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两级线性增益误差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77745" y="36347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两级平滑非线性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0481" y="4263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原步长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05342" y="4231005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/ 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48692" y="4231005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/ 5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72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481" y="4996815"/>
              <a:ext cx="902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1/4步长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05342" y="4964430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 / 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48692" y="4964430"/>
              <a:ext cx="657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/ 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0456" y="5673090"/>
            <a:ext cx="7045452" cy="352044"/>
            <a:chOff x="600456" y="5673090"/>
            <a:chExt cx="704545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600456" y="567309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较小步长的后期误差更低，但没有统一改善本次定义的恢复表现。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4" name="Line 24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374606"/>
              <a:ext cx="5908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依据：EXP-070、模块六。有限期限与指定恢复定义下的结果，不估计总体失败率。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剩余误差的受控分析方法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0456" y="1558290"/>
            <a:ext cx="10115550" cy="4469130"/>
            <a:chOff x="600456" y="1558290"/>
            <a:chExt cx="10115550" cy="4469130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582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研究重点：改变一个明确因素后，未来完整输出发生什么变化。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524125"/>
              <a:ext cx="2667000" cy="13525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38758" y="27070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共同条件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7008" y="31299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相同完整初态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4692" y="34728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相同未来数字记录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76600" y="2638425"/>
              <a:ext cx="1638300" cy="561975"/>
            </a:xfrm>
            <a:custGeom>
              <a:avLst/>
              <a:gdLst/>
              <a:ahLst/>
              <a:cxnLst/>
              <a:rect l="l" t="t" r="r" b="b"/>
              <a:pathLst>
                <a:path w="1638300" h="561975">
                  <a:moveTo>
                    <a:pt x="0" y="561975"/>
                  </a:moveTo>
                  <a:lnTo>
                    <a:pt x="847725" y="561975"/>
                  </a:lnTo>
                  <a:lnTo>
                    <a:pt x="847725" y="0"/>
                  </a:lnTo>
                  <a:lnTo>
                    <a:pt x="1638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24325" y="3200400"/>
              <a:ext cx="790575" cy="714375"/>
            </a:xfrm>
            <a:custGeom>
              <a:avLst/>
              <a:gdLst/>
              <a:ahLst/>
              <a:cxnLst/>
              <a:rect l="l" t="t" r="r" b="b"/>
              <a:pathLst>
                <a:path w="790575" h="714375">
                  <a:moveTo>
                    <a:pt x="0" y="0"/>
                  </a:moveTo>
                  <a:lnTo>
                    <a:pt x="0" y="714375"/>
                  </a:lnTo>
                  <a:lnTo>
                    <a:pt x="790575" y="7143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962525" y="2238375"/>
              <a:ext cx="3429000" cy="8191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62091" y="23679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原学习方式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60720" y="27241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完整传播状态与输出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62525" y="3514725"/>
              <a:ext cx="3429000" cy="8191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40933" y="36442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改变指定因素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57825" y="40005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重新计算活动级的完整反馈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0150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固定终点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01506" y="30918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比较整数码误差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01506" y="3501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保留不利案例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477774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因素包括：是否继续更新、后级进入前级学习的连接、采用样本与门来源。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0456" y="532066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这样可以检验特定解释对未来结果的作用。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980" y="573405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当前结论限定于原平滑模型、五种子、两倍率、两起点与固定八块记录。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5" name="Line 2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885" y="6374606"/>
              <a:ext cx="5940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依据：EXP-072—077、模块七。特定干预的条件效应与唯一物理贡献比例分别判断。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4360" y="361950"/>
            <a:ext cx="6080760" cy="1417320"/>
            <a:chOff x="594360" y="361950"/>
            <a:chExt cx="6080760" cy="141732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增加采用样本的效果与限制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485900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保持后级，同完整初态与同未来数字记录，前级重新传播完整反馈。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7007" y="1847850"/>
            <a:ext cx="5444300" cy="4322445"/>
            <a:chOff x="437007" y="1847850"/>
            <a:chExt cx="5444300" cy="4322445"/>
          </a:xfrm>
        </p:grpSpPr>
        <p:sp>
          <p:nvSpPr>
            <p:cNvPr id="6" name="TextBox 6"/>
            <p:cNvSpPr txBox="1"/>
            <p:nvPr/>
          </p:nvSpPr>
          <p:spPr>
            <a:xfrm>
              <a:off x="802005" y="1847850"/>
              <a:ext cx="1807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全样本MSE（码²）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09625" y="2095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9625" y="3206782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09625" y="4317968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" y="54292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09625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460593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111657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62625" y="209550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7007" y="20002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007" y="31146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7007" y="42291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069" y="53340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6474" y="55721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38768" y="5572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96118" y="5572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3944" y="5572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9625" y="2095500"/>
              <a:ext cx="4953000" cy="3333750"/>
            </a:xfrm>
            <a:custGeom>
              <a:avLst/>
              <a:gdLst/>
              <a:ahLst/>
              <a:cxnLst/>
              <a:rect l="l" t="t" r="r" b="b"/>
              <a:pathLst>
                <a:path w="4953000" h="3333750">
                  <a:moveTo>
                    <a:pt x="0" y="333375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9AA9B4"/>
              </a:solidFill>
              <a:custDash>
                <a:ds d="300000" sp="250000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69005" y="31623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两者误差相等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82393" y="5876925"/>
              <a:ext cx="18074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四样本MSE（码²）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1716786" y="5085588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581436" y="5225891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2237" y="5179981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03662" y="519103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852517" y="5214747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022062" y="5219319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20413" y="527485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28712" y="528818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133022" y="5154073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192458" y="5236274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507742" y="5212366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752344" y="5178266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883152" y="4915376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447288" y="5247037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525048" y="5137499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313117" y="5300186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323624" y="4964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156841" y="5039106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64431" y="5144643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80230" y="5196364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6648450" y="1861185"/>
            <a:ext cx="4857750" cy="4002024"/>
            <a:chOff x="6648450" y="1861185"/>
            <a:chExt cx="4857750" cy="4002024"/>
          </a:xfrm>
        </p:grpSpPr>
        <p:sp>
          <p:nvSpPr>
            <p:cNvPr id="47" name="TextBox 47"/>
            <p:cNvSpPr txBox="1"/>
            <p:nvPr/>
          </p:nvSpPr>
          <p:spPr>
            <a:xfrm>
              <a:off x="6648450" y="1861185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 / 20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8356" y="25584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全样本优于四样本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9880" y="29908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每点对应一例。全部位于相等线下方。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77025" y="34766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8480" y="34385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原步长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562975" y="3476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74430" y="3438525"/>
              <a:ext cx="752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1/4步长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667500" y="3895725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6832" y="4107180"/>
              <a:ext cx="31529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仍有6例比保持系数更差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8356" y="46539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增加观测未消除全部增损。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58356" y="5130165"/>
              <a:ext cx="343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全样本使用30倍前级学习观测，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58356" y="55111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同成本收益需要另行验证。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60" name="Line 60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3885" y="6374606"/>
              <a:ext cx="6700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依据：EXP-075。五种子、两倍率、两个既有起点、[128,136)八块；整期结果不代表每一块。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剩余六例的两种增损关系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0456" y="1605915"/>
            <a:ext cx="7530084" cy="352044"/>
            <a:chOff x="600456" y="1605915"/>
            <a:chExt cx="7530084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05915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分别检查系数历史的平均位置，以及实际持续变化相对该参照的作用。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" y="2385060"/>
            <a:ext cx="10991850" cy="3585210"/>
            <a:chOff x="590550" y="2385060"/>
            <a:chExt cx="10991850" cy="3585210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2385060"/>
              <a:ext cx="95829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27782" y="2421255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平均位置与持续变化都不利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29306" y="29108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仅减少变化，仍不能保证消除平均位置带来的误差。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5528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0550" y="3956685"/>
              <a:ext cx="95829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27782" y="3992880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平均位置有益，收益被持续变化抵消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29306" y="44824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平均校正有帮助，实际学习历史却使净误差增加。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456" y="5263515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把四个不利均值固定后，原连续模型下的平均相关量仍非零。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5676900"/>
              <a:ext cx="75068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因此，不能统一解释为“已经收敛到坏位置”，也不能把全部剩余误差称为随机噪声。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7" name="Line 1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885" y="6374606"/>
              <a:ext cx="6068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依据：EXP-075补分析、最新综合判断。平均位置仅作离线参照，分解包含交叉作用。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4360" y="361950"/>
            <a:ext cx="7293864" cy="1855470"/>
            <a:chOff x="594360" y="361950"/>
            <a:chExt cx="7293864" cy="185547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一个门来源的深入对照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52971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仅替换前级第二低段采用门的来源，重新传播完整反馈，后级保持。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1980" y="1924050"/>
              <a:ext cx="7237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采用门决定样本是否参与对应系数的更新。以下为整期整数MSE，越小越好。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0456" y="2333625"/>
            <a:ext cx="10143744" cy="3312795"/>
            <a:chOff x="600456" y="2333625"/>
            <a:chExt cx="10143744" cy="3312795"/>
          </a:xfrm>
        </p:grpSpPr>
        <p:sp>
          <p:nvSpPr>
            <p:cNvPr id="7" name="Line 7"/>
            <p:cNvSpPr/>
            <p:nvPr/>
          </p:nvSpPr>
          <p:spPr>
            <a:xfrm>
              <a:off x="3429000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714875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00750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286625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572500" y="233362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0456" y="24250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原全样本学习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29000" y="2400300"/>
              <a:ext cx="4287012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0505" y="24574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3.3339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7380" y="2457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原在线路径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3006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未来均值计算门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2981325"/>
              <a:ext cx="3934682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8080" y="303847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3.0599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17380" y="3038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使用未来信息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35871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可见初态计算门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29000" y="3562350"/>
              <a:ext cx="4430458" cy="266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93380" y="361950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3.4454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17380" y="3619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当前可见参照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456" y="4168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两级系数保持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29000" y="4143375"/>
              <a:ext cx="4108132" cy="266700"/>
            </a:xfrm>
            <a:prstGeom prst="rect">
              <a:avLst/>
            </a:prstGeom>
            <a:solidFill>
              <a:srgbClr val="9AA9B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69530" y="42005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3.1948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17380" y="42005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同原始状态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0456" y="47491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较好合法固定系数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29000" y="4724400"/>
              <a:ext cx="2468975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1230" y="47815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1.9201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17380" y="4781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依赖离线目标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429000" y="5238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365849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51724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37599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23474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09349" y="53530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12555" y="5353050"/>
              <a:ext cx="1167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MSE（码²）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0456" y="5768340"/>
            <a:ext cx="7772400" cy="352044"/>
            <a:chOff x="600456" y="5768340"/>
            <a:chExt cx="7772400" cy="352044"/>
          </a:xfrm>
        </p:grpSpPr>
        <p:sp>
          <p:nvSpPr>
            <p:cNvPr id="40" name="TextBox 40"/>
            <p:cNvSpPr txBox="1"/>
            <p:nvPr/>
          </p:nvSpPr>
          <p:spPr>
            <a:xfrm>
              <a:off x="600456" y="576834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未来均值门对照有益，可见初态门未保留收益。在线改法仍需单独研究。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42" name="Line 42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885" y="6374606"/>
              <a:ext cx="6380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依据：EXP-076、077及后续核对。仅625前缀起点、1/4步长；固定参照的低两初态不同。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5119116" cy="996315"/>
            <a:chOff x="594360" y="361950"/>
            <a:chExt cx="511911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模块七 剩余误差来源与改善空间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学习历史与尚未取得的改善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8932" y="1764030"/>
            <a:ext cx="3654552" cy="2222754"/>
            <a:chOff x="598932" y="1764030"/>
            <a:chExt cx="3654552" cy="22227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6403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时间顺序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3012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较早的更新会影响更多后续输出。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7012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对实际平均位置，它的权重更大。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2346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原案例中，固定时间权重已能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36347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使一个方向的累计作用翻转。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5924550" y="1800225"/>
            <a:ext cx="9525" cy="2219325"/>
          </a:xfrm>
          <a:custGeom>
            <a:avLst/>
            <a:gdLst/>
            <a:ahLst/>
            <a:cxnLst/>
            <a:rect l="l" t="t" r="r" b="b"/>
            <a:pathLst>
              <a:path w="9525" h="2219325">
                <a:moveTo>
                  <a:pt x="0" y="0"/>
                </a:moveTo>
                <a:lnTo>
                  <a:pt x="0" y="2219325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561582" y="1764030"/>
            <a:ext cx="4139184" cy="2222754"/>
            <a:chOff x="6561582" y="1764030"/>
            <a:chExt cx="4139184" cy="2222754"/>
          </a:xfrm>
        </p:grpSpPr>
        <p:sp>
          <p:nvSpPr>
            <p:cNvPr id="12" name="TextBox 12"/>
            <p:cNvSpPr txBox="1"/>
            <p:nvPr/>
          </p:nvSpPr>
          <p:spPr>
            <a:xfrm>
              <a:off x="6561582" y="176403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状态与采用门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3106" y="23012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门随系数状态变化，重新选择样本。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3106" y="27012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固定位置的方向不直接决定移动历史。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3106" y="32346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后级进入前级学习的传导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3106" y="36347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在受控对照中既有益也有害。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932" y="4371975"/>
            <a:ext cx="10983468" cy="1548384"/>
            <a:chOff x="598932" y="4371975"/>
            <a:chExt cx="10983468" cy="1548384"/>
          </a:xfrm>
        </p:grpSpPr>
        <p:sp>
          <p:nvSpPr>
            <p:cNvPr id="18" name="Line 18"/>
            <p:cNvSpPr/>
            <p:nvPr/>
          </p:nvSpPr>
          <p:spPr>
            <a:xfrm>
              <a:off x="609600" y="43719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8932" y="465010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现有表示仍有改善空间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0456" y="5120640"/>
              <a:ext cx="75543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原20个合法固定系数参照均优于对应全样本路径，构造使用离线目标。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5568315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在线算法怎样从相同初态发现、达到并维持有益状态，仍需独立证明。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3" name="Line 23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6374606"/>
              <a:ext cx="6572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依据：两级理论§29—45、EXP-073—077、综合分析§77。不同层次的作用不合成唯一百分比。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695063" cy="996315"/>
            <a:chOff x="594360" y="361950"/>
            <a:chExt cx="4695063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当前阶段形成的主要认识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8932" y="1802130"/>
            <a:ext cx="7082028" cy="4127754"/>
            <a:chOff x="598932" y="1802130"/>
            <a:chExt cx="7082028" cy="412775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021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60932" y="1802130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研究基础已能支撑明确条件下的分析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62456" y="22631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行为平台、条件性预测及数字实现分别有核对依据。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29070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0932" y="2907030"/>
              <a:ext cx="50675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学习统计与最终输出目标需要对应检查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2456" y="33680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相关量归零、局部可区分与低输出误差分别需要条件。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40119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0932" y="4011930"/>
              <a:ext cx="5364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持续学习会同时改变平均位置与输出历史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2456" y="44729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后期收益、启动、恢复及数字成本需要共同评价。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8932" y="511683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60932" y="5116830"/>
              <a:ext cx="5364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有限场景的误差解释与改善空间已经形成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2456" y="55778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选样、时间和门有对应证据，在线取得较好校正仍是缺口。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8" name="Line 18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885" y="6374606"/>
              <a:ext cx="5614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适用范围：各原理论与实验声明的条件；一般未知增益理论及新算法尚未全部完成。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4271010" cy="996315"/>
            <a:chOff x="594360" y="361950"/>
            <a:chExt cx="4271010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下一步研究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下一步研究的关键关系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8932" y="1859280"/>
            <a:ext cx="7739101" cy="1289304"/>
            <a:chOff x="598932" y="1859280"/>
            <a:chExt cx="7739101" cy="128930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59280"/>
              <a:ext cx="77391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实际可见信息或可信输入条件，能否判断有益的调整方向？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3964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先明确一个具体的信息条件，以及它能够支持或否定的判断。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79654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比较已有相关统计与已知正弦约束，明确仍缺少的目标信息。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8932" y="3438525"/>
            <a:ext cx="10983468" cy="2405634"/>
            <a:chOff x="598932" y="3438525"/>
            <a:chExt cx="10983468" cy="2405634"/>
          </a:xfrm>
        </p:grpSpPr>
        <p:sp>
          <p:nvSpPr>
            <p:cNvPr id="9" name="Line 9"/>
            <p:cNvSpPr/>
            <p:nvPr/>
          </p:nvSpPr>
          <p:spPr>
            <a:xfrm>
              <a:off x="609600" y="3438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932" y="3802380"/>
              <a:ext cx="38802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随后需要连接到真实在线学习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3491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算法能否发现方向，并从相同初态达到、维持有益状态。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474916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具体方案再评价启动、恢复、最终输出及新增数字资源。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549211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研究目标：以明确机制和信息条件，为新算法设计提供可检验依据。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5" name="Line 15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3885" y="6374606"/>
              <a:ext cx="67802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依据：STATUS与现行主线。此页说明研究问题，尚未宣称新算法、同成本优胜或芯片验证完成。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2998851" cy="996315"/>
            <a:chOff x="594360" y="361950"/>
            <a:chExt cx="2998851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指标与比较口径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8932" y="1729740"/>
            <a:ext cx="10983468" cy="4126230"/>
            <a:chOff x="598932" y="1729740"/>
            <a:chExt cx="10983468" cy="412623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44980"/>
              <a:ext cx="14954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MAE与MSE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29356" y="1729740"/>
              <a:ext cx="38203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MAE为绝对码误差平均，单位码。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9356" y="2110740"/>
              <a:ext cx="72511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MSE为码误差平方平均，单位码²。本文整数MSE保留直流误差。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0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8932" y="2935605"/>
              <a:ext cx="17149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SNDR与SFDR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9356" y="2872740"/>
              <a:ext cx="62142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SNDR比较基波与噪声、失真总功率，评分时去除直流。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253740"/>
              <a:ext cx="6982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SFDR比较基波与最大杂散，误差功率的频率分布也会影响它。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752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932" y="40786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观察量与时长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40157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同转换时长与同学习观测量分别比较。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356" y="4396740"/>
              <a:ext cx="68758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全样本方式每窗采用120条，四样本采用4条，观测量相差30倍。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5120640"/>
              <a:ext cx="7997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已有例子：平均SNDR提高0.994 dB，MSE却由32.176升至34.406码²。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5562600"/>
              <a:ext cx="6384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该结果来自EXP-062四样本平滑条件，说明不同指标需要分别报告。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19" name="Line 19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3885" y="6374606"/>
              <a:ext cx="5354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依据：ADC指标协议、模块四及模块六。dB均值与功率均值也保留各自口径。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998576" cy="996315"/>
            <a:chOff x="594360" y="361950"/>
            <a:chExt cx="3998576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9985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Gu原文与本项目候选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456" y="1600200"/>
            <a:ext cx="10981944" cy="4386834"/>
            <a:chOff x="600456" y="1600200"/>
            <a:chExt cx="10981944" cy="4386834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956" y="17487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943606" y="1748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原文公开内容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3206" y="17487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项目约定或未决内容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23679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校正原理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43606" y="2367915"/>
              <a:ext cx="34500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数字四段PWL、dither相关学习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3606" y="27489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后级先处理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3206" y="236791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原理对应，未复原完整片上引擎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238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0956" y="34823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精度与步长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3606" y="3482340"/>
              <a:ext cx="35682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10小数位系数、数据保留3小数位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3606" y="38633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实际四段芯片步长未充分公开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3206" y="3482340"/>
              <a:ext cx="27962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Q22累加与具体舍入规则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63206" y="38633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以及实验步长属于项目候选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352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956" y="45967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抽取与提交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3606" y="4596765"/>
              <a:ext cx="2507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四路750 MHz、抽取30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3606" y="497776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片内聚合与广播细节仍有缺口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3206" y="4596765"/>
              <a:ext cx="2114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120转换旧系数输出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3206" y="49777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窗口末尾提交为明确候选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563499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平滑三次传输、动态参数及部分主辅关系为受控假设，需要物理资料验证。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7" name="Line 2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885" y="6374606"/>
              <a:ext cx="5372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依据：GU_ALGORITHM_EVALUATION_V1.md §4、原文来源与数字总线审查。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阅读索引与证据入口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1581150"/>
            <a:ext cx="10972800" cy="4520184"/>
            <a:chOff x="609600" y="1581150"/>
            <a:chExt cx="10972800" cy="4520184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109728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956" y="17297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57856" y="17297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773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主要证据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2320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04—05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7856" y="2320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平台与独立实现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77356" y="2320290"/>
              <a:ext cx="2910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阶段一验收、Simulink验收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70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6" y="28917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06—07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7856" y="2891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条件性预测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356" y="28917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EXP-015、016、038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0956" y="3463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08—09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57856" y="34632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定点与硬件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7356" y="3463290"/>
              <a:ext cx="3682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EXP-013、030—035、Vivado报告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3848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0956" y="40347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10—12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7856" y="4034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观测与校正目标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7356" y="40347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EXP-020、022、048、观测理论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0956" y="4606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13—14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7856" y="46062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激励、选样与更新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7356" y="4606290"/>
              <a:ext cx="356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窗口合同、EXP-056、标量理论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0956" y="51777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15—17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57856" y="517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持续后台性能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7356" y="51777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EXP-062、069、070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56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0956" y="57492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18—22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57856" y="5749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误差来源与改善空间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7356" y="5749290"/>
              <a:ext cx="41276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EXP-072—077、两级理论、综合分析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37" name="Line 37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3885" y="6374606"/>
              <a:ext cx="588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详细文件路径见各页备注及本目录README。当前科学进展以docs/STATUS.md为准。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361950"/>
            <a:ext cx="3846957" cy="996315"/>
            <a:chOff x="594360" y="361950"/>
            <a:chExt cx="3846957" cy="99631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361950"/>
              <a:ext cx="55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附录D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71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未完成项与保留限制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8932" y="1729740"/>
            <a:ext cx="10983468" cy="4219194"/>
            <a:chOff x="598932" y="1729740"/>
            <a:chExt cx="10983468" cy="4219194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449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科学适用范围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29356" y="172974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有限模型、输入与期限内的证据，尚未形成一般八状态长期结论。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229356" y="21107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原经验稳定判据未通过，不能据此直接判定发散。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00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8932" y="290703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未认证与成本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9356" y="28917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全样本对保持的一项小改善仍未认证。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3272790"/>
              <a:ext cx="711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EXP-075及补分析的漏账／超限、EXP-077完整成本失败保持。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7623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932" y="4069080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物理与实现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4053840"/>
              <a:ext cx="6585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尚无真实主辅传输、芯片动态及目标工艺PPA的完整证据。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9356" y="4434840"/>
              <a:ext cx="6674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 MHz时序未通过，旧电路汇报两份验收JSON当前缺失。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49244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8932" y="5231130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在线与留出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9356" y="52158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未来均值、离线目标及较好系数参照未进入原在线更新。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9356" y="5596890"/>
              <a:ext cx="6272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已用于Gu确认的条件，不能再次承担新算法的独立确认。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885" y="6210300"/>
            <a:ext cx="10984230" cy="384334"/>
            <a:chOff x="603885" y="6210300"/>
            <a:chExt cx="10984230" cy="384334"/>
          </a:xfrm>
        </p:grpSpPr>
        <p:sp>
          <p:nvSpPr>
            <p:cNvPr id="21" name="Line 21"/>
            <p:cNvSpPr/>
            <p:nvPr/>
          </p:nvSpPr>
          <p:spPr>
            <a:xfrm>
              <a:off x="609600" y="621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885" y="6374606"/>
              <a:ext cx="5980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依据：STATUS与各原报告。数值核对、成本合同、物理适用性和实现验收分别记录。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10093" y="6374606"/>
              <a:ext cx="17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dvisor_progress">
  <a:themeElements>
    <a:clrScheme name="advisor_progress">
      <a:dk1>
        <a:srgbClr val="243746"/>
      </a:dk1>
      <a:lt1>
        <a:srgbClr val="FFFFFF"/>
      </a:lt1>
      <a:dk2>
        <a:srgbClr val="596D7B"/>
      </a:dk2>
      <a:lt2>
        <a:srgbClr val="F2F5F8"/>
      </a:lt2>
      <a:accent1>
        <a:srgbClr val="16324F"/>
      </a:accent1>
      <a:accent2>
        <a:srgbClr val="226E9C"/>
      </a:accent2>
      <a:accent3>
        <a:srgbClr val="21857A"/>
      </a:accent3>
      <a:accent4>
        <a:srgbClr val="D7E0E7"/>
      </a:accent4>
      <a:accent5>
        <a:srgbClr val="B15B36"/>
      </a:accent5>
      <a:accent6>
        <a:srgbClr val="9AA9B4"/>
      </a:accent6>
      <a:hlink>
        <a:srgbClr val="226E9C"/>
      </a:hlink>
      <a:folHlink>
        <a:srgbClr val="21857A"/>
      </a:folHlink>
    </a:clrScheme>
    <a:fontScheme name="advisor_progres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visor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dvisor_progress">
  <a:themeElements>
    <a:clrScheme name="advisor_progress">
      <a:dk1>
        <a:srgbClr val="243746"/>
      </a:dk1>
      <a:lt1>
        <a:srgbClr val="FFFFFF"/>
      </a:lt1>
      <a:dk2>
        <a:srgbClr val="596D7B"/>
      </a:dk2>
      <a:lt2>
        <a:srgbClr val="F2F5F8"/>
      </a:lt2>
      <a:accent1>
        <a:srgbClr val="16324F"/>
      </a:accent1>
      <a:accent2>
        <a:srgbClr val="226E9C"/>
      </a:accent2>
      <a:accent3>
        <a:srgbClr val="21857A"/>
      </a:accent3>
      <a:accent4>
        <a:srgbClr val="D7E0E7"/>
      </a:accent4>
      <a:accent5>
        <a:srgbClr val="B15B36"/>
      </a:accent5>
      <a:accent6>
        <a:srgbClr val="9AA9B4"/>
      </a:accent6>
      <a:hlink>
        <a:srgbClr val="226E9C"/>
      </a:hlink>
      <a:folHlink>
        <a:srgbClr val="21857A"/>
      </a:folHlink>
    </a:clrScheme>
    <a:fontScheme name="advisor_progres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visor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2026-10-16T08:44:14Z</dcterms:created>
  <dcterms:modified xsi:type="dcterms:W3CDTF">2026-10-16T08:44:14Z</dcterms:modified>
  <cp:category/>
  <cp:contentStatus/>
</cp:coreProperties>
</file>