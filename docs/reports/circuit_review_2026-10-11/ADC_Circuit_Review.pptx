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351b8a9b7441f" /><Relationship Type="http://schemas.openxmlformats.org/officeDocument/2006/relationships/extended-properties" Target="/docProps/app.xml" Id="R6bcb79e362484db0" /><Relationship Type="http://schemas.openxmlformats.org/officeDocument/2006/relationships/officeDocument" Target="/ppt/presentation.xml" Id="Rdb1b499a1c5e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139bf91eb74a4d"/>
  </p:sldMasterIdLst>
  <p:notesMasterIdLst>
    <p:notesMasterId xmlns:r="http://schemas.openxmlformats.org/officeDocument/2006/relationships" r:id="R5579c6d8758344e0"/>
  </p:notesMasterIdLst>
  <p:sldIdLst>
    <p:sldId xmlns:r="http://schemas.openxmlformats.org/officeDocument/2006/relationships" id="256" r:id="R157647df97424420"/>
    <p:sldId xmlns:r="http://schemas.openxmlformats.org/officeDocument/2006/relationships" id="257" r:id="R85b3e19e306e4d1b"/>
    <p:sldId xmlns:r="http://schemas.openxmlformats.org/officeDocument/2006/relationships" id="258" r:id="R4db7ecc346ac46d2"/>
    <p:sldId xmlns:r="http://schemas.openxmlformats.org/officeDocument/2006/relationships" id="259" r:id="R37cee0302f7c4b90"/>
    <p:sldId xmlns:r="http://schemas.openxmlformats.org/officeDocument/2006/relationships" id="260" r:id="Rf422bcbfa37d4ba5"/>
    <p:sldId xmlns:r="http://schemas.openxmlformats.org/officeDocument/2006/relationships" id="261" r:id="R6ecf994826ff44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40a86d47e4545" /><Relationship Type="http://schemas.openxmlformats.org/officeDocument/2006/relationships/slideMaster" Target="/ppt/slideMasters/slideMaster1.xml" Id="Rf3139bf91eb74a4d" /><Relationship Type="http://schemas.openxmlformats.org/officeDocument/2006/relationships/notesMaster" Target="/ppt/notesMasters/notesMaster1.xml" Id="R5579c6d8758344e0" /><Relationship Type="http://schemas.openxmlformats.org/officeDocument/2006/relationships/presProps" Target="/ppt/presProps.xml" Id="R12ac6f1f6d994dc4" /><Relationship Type="http://schemas.openxmlformats.org/officeDocument/2006/relationships/tableStyles" Target="/ppt/tableStyles.xml" Id="Rd0b248a720d840f0" /><Relationship Type="http://schemas.openxmlformats.org/officeDocument/2006/relationships/slide" Target="/ppt/slides/slide1.xml" Id="R157647df97424420" /><Relationship Type="http://schemas.openxmlformats.org/officeDocument/2006/relationships/slide" Target="/ppt/slides/slide2.xml" Id="R85b3e19e306e4d1b" /><Relationship Type="http://schemas.openxmlformats.org/officeDocument/2006/relationships/slide" Target="/ppt/slides/slide3.xml" Id="R4db7ecc346ac46d2" /><Relationship Type="http://schemas.openxmlformats.org/officeDocument/2006/relationships/slide" Target="/ppt/slides/slide4.xml" Id="R37cee0302f7c4b90" /><Relationship Type="http://schemas.openxmlformats.org/officeDocument/2006/relationships/slide" Target="/ppt/slides/slide5.xml" Id="Rf422bcbfa37d4ba5" /><Relationship Type="http://schemas.openxmlformats.org/officeDocument/2006/relationships/slide" Target="/ppt/slides/slide6.xml" Id="R6ecf994826ff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b98ca7000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c72ef5ec3436b" /><Relationship Type="http://schemas.openxmlformats.org/officeDocument/2006/relationships/notesMaster" Target="/ppt/notesMasters/notesMaster1.xml" Id="Rb6790a62afde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102fe8d81048dd" /><Relationship Type="http://schemas.openxmlformats.org/officeDocument/2006/relationships/notesMaster" Target="/ppt/notesMasters/notesMaster1.xml" Id="Rffe3e94413ac4a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5ec7e75a7c41be" /><Relationship Type="http://schemas.openxmlformats.org/officeDocument/2006/relationships/notesMaster" Target="/ppt/notesMasters/notesMaster1.xml" Id="R5a78220a44574e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98c055bf104f6b" /><Relationship Type="http://schemas.openxmlformats.org/officeDocument/2006/relationships/notesMaster" Target="/ppt/notesMasters/notesMaster1.xml" Id="R2dbd9e562f1b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ec04a22ade4095" /><Relationship Type="http://schemas.openxmlformats.org/officeDocument/2006/relationships/notesMaster" Target="/ppt/notesMasters/notesMaster1.xml" Id="R56706e199261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f37c5843c242c1" /><Relationship Type="http://schemas.openxmlformats.org/officeDocument/2006/relationships/notesMaster" Target="/ppt/notesMasters/notesMaster1.xml" Id="R6db517310dc04c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讲解约2分钟。主路与辅路连向不同负载。图是公开结构的项目概括，不是晶体管拓扑。候选q九态、位宽和静态匹配主辅属于当前建模假设。Gu et al. DOI 10.1109/OJSSCS.2026.3656850；docs/stages/03_gu_baseline/DIGITAL_BUS_AND_DUAL_PATH_SOURCE_AUDIT_V1.md。论文后端四路TI-SAR，此图合并为一个功能块；当前RTL没有四路引擎。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2分钟。d1、d2取±1。图中量均在整数Q3域。PWL系数导出为nearest-even(A/4096)，限制在0..2047。两个bank用本转换旧系数计算输出与门控，在同一时钟沿写入状态，下一转换使用新系数。门限候选采用≥。手算来自vectors/online.txt零基第7行。另一个PWL算例：第二级宽度256，raw_q3=300，C0=1024,C1=1100，其分段偏移256，局部44×1100/1024取偶舍入为47，结果303Q3。完整算法说明见docs/stages/03_gu_baseline/CANDIDATE_A_EXACT_UPDATE_ARITHMETIC_V1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讲解约2分钟。网表funcsim Verilog与EDIF、综合DCP、PDF/SVG电路图均随工程提供。资源顶层gu_online_cost_top仅保留valid_out和12位final_code，不导出debug状态影响成本边界。时序合同10ns，输入/输出延迟1ns，输出负载1pF。曾尝试set_input_transition但Vivado不支持并忽略，记录在工程修订中。WHS=-0.079ns，557/561 setup endpoints失败，0未约束内部端点。最长路径数据延迟60.847ns、78逻辑级，route是综合估算。没有据此换算可实现Fmax，也没有与行为3GS/s直接比较。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2分钟。图取零基第7至14行；时钟激励非周期现场频率合同，ns尺度不表示可达频率。完整状态核对还包含门控、学习观测、非法字和停更；综合网表仅核对成本顶层可观测输出，不能称形式等价证明。算术173872增量、869360饱和探针、173872停更探针；专门bank等值/邻点22例。负控制将第0行预期输出翻转一位，必须被testbench拒绝。初期失败来自历史bench长路径截断和glbl 100ns GSR，修复只作用于集成bench与路径，不改核心RTL。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讲解约2分钟。这页复用已验收记录，未重新训练。行为模型stage1 z传输0.975z−0.0825z³，stage2为0.98z−0.06z³；无噪声/动态、主辅匹配，test amplitude0.82，nominal fs3GHz，30720点相干FFT。步长为上一strong组1/4，同时改变非线性与步长，不能单因素归因。图中保留所有7检查点与终点回落。数字硬件结果和浮点行为性能是两类独立证据，未建立这次RTL的ADC闭环性能。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讲解约2分钟。新增软件安装为0：现有Vivado/XSim、MATLAB/Simulink与已有Python/Node依赖足够交付。完整模拟晶体管电路仍缺拓扑尺寸偏置及PDK，不能由Verilog反推。现场按REPRODUCE.md先开既有模型，再开工程的digital_top schematic，再运行tb_review_cost短测试。详细证据和失败修复见CIRCUIT_REVIEW_VIVADO_RESULTS_2026-10-11.md。研究定点长记录计划保持未执行，新算法/晶体管/板级实测保持未开展。若老师不接受AI文字，直接以源文件、工具报告、手算和现场重放讨论；不伪称来源或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6236d6f4844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9bf6790f148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ae6f7a03c4b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5284974a94d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96bac427a4d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5bb32682b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F15965-6013-4BD9-B5C8-7772ACAD7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A44B87-A6DA-4E93-BA52-13DEEDEF58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171C76-C0D4-45F9-AF5B-7DFF5C989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2F7C2C-CBAF-4F2E-AF73-FF3F1A2F7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50C14F-79E7-48DA-BFCB-EB8E4B22CD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D4F474-9D6A-4CDD-B406-BA3C7CA1C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43A983-A47E-4E9C-9FA5-EE277F190F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34727D-9B88-471C-BE96-42DE965C91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3C8FED-E80A-4DE4-901A-88C4E9D97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115FFD-AAA9-453E-9D31-9442C68B05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8ac6e591ff40fe" /><Relationship Type="http://schemas.openxmlformats.org/officeDocument/2006/relationships/slideLayout" Target="/ppt/slideLayouts/slideLayout1.xml" Id="Re995d3349dbb4213" /><Relationship Type="http://schemas.openxmlformats.org/officeDocument/2006/relationships/slideLayout" Target="/ppt/slideLayouts/slideLayout2.xml" Id="R20715605aa1d40d9" /><Relationship Type="http://schemas.openxmlformats.org/officeDocument/2006/relationships/slideLayout" Target="/ppt/slideLayouts/slideLayout3.xml" Id="Ra4246b212592427f" /><Relationship Type="http://schemas.openxmlformats.org/officeDocument/2006/relationships/slideLayout" Target="/ppt/slideLayouts/slideLayout4.xml" Id="Rde4c35c726954342" /><Relationship Type="http://schemas.openxmlformats.org/officeDocument/2006/relationships/slideLayout" Target="/ppt/slideLayouts/slideLayout5.xml" Id="Rad07b3442dd94432" /><Relationship Type="http://schemas.openxmlformats.org/officeDocument/2006/relationships/slideLayout" Target="/ppt/slideLayouts/slideLayout6.xml" Id="Ra0621ad25455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5d3349dbb4213"/>
    <p:sldLayoutId xmlns:r="http://schemas.openxmlformats.org/officeDocument/2006/relationships" id="2147483650" r:id="R20715605aa1d40d9"/>
    <p:sldLayoutId xmlns:r="http://schemas.openxmlformats.org/officeDocument/2006/relationships" id="2147483651" r:id="Ra4246b212592427f"/>
    <p:sldLayoutId xmlns:r="http://schemas.openxmlformats.org/officeDocument/2006/relationships" id="2147483652" r:id="Rde4c35c726954342"/>
    <p:sldLayoutId xmlns:r="http://schemas.openxmlformats.org/officeDocument/2006/relationships" id="2147483653" r:id="Rad07b3442dd94432"/>
    <p:sldLayoutId xmlns:r="http://schemas.openxmlformats.org/officeDocument/2006/relationships" id="2147483654" r:id="Ra0621ad25455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3fa5d6eff4944" /><Relationship Type="http://schemas.openxmlformats.org/officeDocument/2006/relationships/notesSlide" Target="/ppt/notesSlides/notesSlide1.xml" Id="R16d09ba4ae8642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3ff4f62684897" /><Relationship Type="http://schemas.openxmlformats.org/officeDocument/2006/relationships/notesSlide" Target="/ppt/notesSlides/notesSlide2.xml" Id="Rea7f1d6fd43449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8a2518a0c4b87" /><Relationship Type="http://schemas.openxmlformats.org/officeDocument/2006/relationships/image" Target="/ppt/media/image.png" Id="Rf9f7586ece004f0c" /><Relationship Type="http://schemas.openxmlformats.org/officeDocument/2006/relationships/notesSlide" Target="/ppt/notesSlides/notesSlide3.xml" Id="R42e410148d5441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9e08d3e8e4b86" /><Relationship Type="http://schemas.openxmlformats.org/officeDocument/2006/relationships/image" Target="/ppt/media/image2.png" Id="Ra5ca7bf7c6104ef5" /><Relationship Type="http://schemas.openxmlformats.org/officeDocument/2006/relationships/notesSlide" Target="/ppt/notesSlides/notesSlide4.xml" Id="R93d30d6a71c548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ccda289ff4616" /><Relationship Type="http://schemas.openxmlformats.org/officeDocument/2006/relationships/image" Target="/ppt/media/image3.png" Id="R7272bda2ab73487e" /><Relationship Type="http://schemas.openxmlformats.org/officeDocument/2006/relationships/notesSlide" Target="/ppt/notesSlides/notesSlide5.xml" Id="R39fc0d1235e04e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f16dbd5404edb" /><Relationship Type="http://schemas.openxmlformats.org/officeDocument/2006/relationships/notesSlide" Target="/ppt/notesSlides/notesSlide6.xml" Id="R494a95b047194a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30674-2908-41E2-AA0A-9A86109C607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44025" y="36385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7A553-BA4D-4D0B-8F95-90CCD973EB8D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43775" y="36385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8666A-36DF-4A81-B936-887CCBD86A7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667500" y="253365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501E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313BF-C1F1-48C5-ADCF-EB377199EC2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19725" y="3638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37037-13B0-466B-AF62-71C9028B4F6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19725" y="21526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501E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84527-8047-4EE6-8976-14A0ACB4C4D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3371850" y="2533650"/>
            <a:ext cx="1314450" cy="11049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F501E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7BF2C-59EA-47E9-B23F-B632B420747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71850" y="36385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44A49-1BCC-44AE-92AB-29E362B7018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695575" y="253365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75BD7-28AD-4738-93C6-04FB7CFB636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647825" y="2628900"/>
            <a:ext cx="371475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C2732-91F7-4B37-81C8-0D11A405B2E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647825" y="2152650"/>
            <a:ext cx="371475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AF405D-B28B-4021-9FCB-B52155E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ADC 课题进度   2026.10.11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6DED9-61BB-468C-8D35-BDFD0D72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两级残差通路给数字校准提供观测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1CB8C-F6D0-42CC-855D-776CF2B8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120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先区分主路的残差电压与辅路的 Flash 判决，再讨论数字补偿。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71C5C-E43A-4E49-9924-3FF5CFE4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来源：Gu OJSSCS 2026 Fig.13–14、18；本项目主辅路径与数字总线来源审计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DD33F-59D2-474B-8562-224612DD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E2E81-19F6-4B23-8B64-A417B126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123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3647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输入 Vin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A13B5-1172-4483-AD0E-88D7591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7165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第一级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Flash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BD289-9CC4-4865-BCE5-A602D955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2897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第一级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CDAC + dither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3472-680F-40AB-81C6-B777ACD9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28975"/>
            <a:ext cx="1466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残差放大器 1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主输出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ADDCB-E7FA-4038-A42A-5502492F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71650"/>
            <a:ext cx="1466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F501E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辅助判决输出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92ECA-0A40-4529-92A9-DB1272A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7165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F501E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第二级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Flash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49E5D-ECDE-4A24-AFA4-8DE00AB0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22897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第二级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CDAC + dither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7FEDE-BF25-48D7-83A9-A47EE0EA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28975"/>
            <a:ext cx="1485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残差放大器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F381D-7C29-474E-88A0-D1A1203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28975"/>
            <a:ext cx="1733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8 位 SAR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B814C-479E-4E58-B025-2D2DB771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910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主路驱动第二级 CDAC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DA137-19FB-4A69-9A12-E0948E3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479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rPr>
              <a:t>辅路驱动第二级 Flash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54C25-871B-40EF-B56C-A6ACDA5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7680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3647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数字观测：两级判决 q1、q2，SAR 码 b，两路 dither 标记 d1、d2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715AD-53A8-4E90-8510-DD2AD53F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435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rPr>
              <a:t>候选约定：q = −4…4，当前 RTL 每级用 4 位有符号字。真实内部码制与四路调度仍待核实。</a:t>
            </a:r>
          </a:p>
        </p:txBody>
      </p:sp>
    </p:spTree>
    <p:extLst>
      <p:ext uri="{BB962C8B-B14F-4D97-AF65-F5344CB8AC3E}">
        <p14:creationId xmlns:p14="http://schemas.microsoft.com/office/powerpoint/2010/main" val="1303843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4BCD2-84B9-4CDB-ADA9-232608D00583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9901238" y="2514600"/>
            <a:ext cx="552450" cy="1038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3D44B-F019-4ED1-A025-D0E1917B3CF7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029075" y="2514600"/>
            <a:ext cx="419100" cy="1038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02CE9-94EE-4534-9932-49AF3C99F7D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77300" y="2133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05B0E-AA94-4FDB-BA75-59CF875C198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86350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60C70-62B4-464C-9F5D-6EE9C081013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09850" y="2133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60EA5-95FA-4FA9-AA0C-21F49AD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ADC 课题进度   2026.10.11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51E46-A466-4050-8CA0-631E327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数字校正先处理后级，八个状态在时钟沿更新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00FE3-A812-4828-AF2F-3BB067FD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120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在线输入只有数字码、dither 和自身状态。模拟真值留在离线核查侧。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B87B8-F845-4E60-BEAD-AF32C0C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来源：two_stage_fixed_candidate_a.sv、fixed_gated_lms_exact_candidate_a.sv；精确更新理论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0572F-579C-43A4-B3AB-4001BFFE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17E7C-F68E-4301-877A-78982BC4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3647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SAR 码 b</a:t>
            </a:r>
          </a:p>
          <a:p xmlns:a="http://schemas.openxmlformats.org/drawingml/2006/main">
            <a:pPr algn="ctr">
              <a:def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(b − 128) ×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617C5-65CA-40EC-BDC4-B64FEF87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2114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第二级 PWL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Q3 / Q1.10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4D2E5-0885-4D5C-9028-6D89E9F2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52600"/>
            <a:ext cx="3409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3647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前级残差重构</a:t>
            </a:r>
          </a:p>
          <a:p xmlns:a="http://schemas.openxmlformats.org/drawingml/2006/main">
            <a:pPr algn="ctr">
              <a:defRPr sz="157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1024q2 + PWL2 − 128d2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66941-BB2B-44D4-9E09-F87E64CF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428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第一级 PWL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Q3 / Q1.10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3B87D-A03D-4281-8090-E97F7D7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最终码：裁剪并取整 [4096q1 + PWL1 − 512d1 + 16384] /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4428D-6649-4122-B340-EB96622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5282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第二级系数 bank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4 × 23 位 Q22 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C3D17-8564-494E-BEA1-305F78D4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52825"/>
            <a:ext cx="35337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F8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第一级系数 bank</a:t>
            </a:r>
          </a:p>
          <a:p xmlns:a="http://schemas.openxmlformats.org/drawingml/2006/main">
            <a:pPr algn="ctr">
              <a:def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4 × 23 位 Q22 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102A6-FE7A-4AAF-BC58-7D3478E3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6707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有效门 + 校正观测 Y2 + d2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6448E-008F-4823-BA17-AE5BCC9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670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有效门 + 校正观测 Y1 + d1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E4376-9EF4-4F91-ADAF-94AB5094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114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门开时：A⁺ = clip(A + Δ)    Δ = sgn(T)⌊(|T| + 62) / 125⌋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4C841-3497-4EDC-B92F-F7231F63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T1 = −16 d1 j Y1，T2 = −64 d2 j Y2，j ∈ {1, 3, 6, 12}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F2296-4D05-4E87-AFFC-76068343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手算第 7 行：Y2 = 120，d2 = −1，j = 1。T2 = 7680，Δ = 61。</a:t>
            </a:r>
          </a:p>
          <a:p xmlns:a="http://schemas.openxmlformats.org/drawingml/2006/main">
            <a:pPr>
              <a:defRPr sz="165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A20 从 4194304 更新为 4194365，导出的系数仍为 1024。</a:t>
            </a:r>
          </a:p>
        </p:txBody>
      </p:sp>
    </p:spTree>
    <p:extLst>
      <p:ext uri="{BB962C8B-B14F-4D97-AF65-F5344CB8AC3E}">
        <p14:creationId xmlns:p14="http://schemas.microsoft.com/office/powerpoint/2010/main" val="96125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9BF10-67DD-46B4-BE14-219DDA8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ADC 课题进度   2026.10.11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20E7E-213B-40E7-A6ED-BDB49C1C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Vivado 已生成可检查的数字电路与 FPGA 网表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5FDC-53A7-4C41-A6E3-E33DAE6A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120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同一候选 RTL，保留模块层级。目标器件 Artix-7 xc7a100tcsg324-1。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BA7C7-0B4D-4CBB-8C8D-A2C2899E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来源：本轮 Vivado 2026.1 综合网表、utilization.rpt、timing_synth.rpt、critical_paths.rpt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8BAC3-91A7-4171-8B2F-F6E89AFB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0B2C3-0D0B-49B0-9057-0C48171EAB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7586ece004f0c"/>
          <a:stretch xmlns:a="http://schemas.openxmlformats.org/drawingml/2006/main"/>
        </p:blipFill>
        <p:spPr>
          <a:xfrm xmlns:a="http://schemas.openxmlformats.org/drawingml/2006/main">
            <a:off x="495300" y="1802057"/>
            <a:ext cx="7096125" cy="25109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ADDD8-DEEC-4B55-8731-9F1E3470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86275"/>
            <a:ext cx="709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Vivado 原生综合网表层级图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A6C5A-97D4-4A22-9F91-76218A12241D}"/>
              </a:ext>
            </a:extLst>
          </p:cNvPr>
          <p:cNvGraphicFramePr/>
          <p:nvPr/>
        </p:nvGraphicFramePr>
        <p:xfrm>
          <a:off xmlns:a="http://schemas.openxmlformats.org/drawingml/2006/main" x="7924800" y="1714500"/>
          <a:ext xmlns:a="http://schemas.openxmlformats.org/drawingml/2006/main" cx="3762375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476375"/>
              </a:tblGrid>
              <a:tr h="5429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综合使用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2,548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DSP48E1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908B4-519B-4EB0-AA6C-10F99A73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184 位 = 两级 × 四段 × 23 位状态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2C994-6E99-4DD0-9921-9470269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rPr>
              <a:t>100 MHz 展示约束未满足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FA7C9-D2A6-4BCB-890D-7FC195C7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WNS = −50.309 ns。最长报告路径从 SAR 输入经过两级校正进入第一级更新 bank。</a:t>
            </a:r>
          </a:p>
          <a:p xmlns:a="http://schemas.openxmlformats.org/drawingml/2006/main">
            <a:pPr>
              <a:def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这里只完成综合，布局布线、板级运行和真实 ADC 速率仍未验收。</a:t>
            </a:r>
          </a:p>
        </p:txBody>
      </p:sp>
    </p:spTree>
    <p:extLst>
      <p:ext uri="{BB962C8B-B14F-4D97-AF65-F5344CB8AC3E}">
        <p14:creationId xmlns:p14="http://schemas.microsoft.com/office/powerpoint/2010/main" val="1399221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6F502-4907-42C4-98FA-EBB9E61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ADC 课题进度   2026.10.11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A3F8C-129D-42B5-9BFB-A20D328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时钟波形核对了旧系数读出和新状态写回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255C5-8267-40AC-B7D2-C728707E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120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下面来自本轮 XSim VCD。输出在时钟沿之前评分，系数状态在沿后改变。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35D80-F850-420B-9184-D49852D4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来源：online_repaired.vcd 与独立数字参考 vectors/online.txt；全部原 RTL 源码 SHA-256 未变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32408-E2CA-4EFD-AAE9-A1D378A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516CE-45EA-4766-9AF8-FDD4BA585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a7bf7c6104ef5"/>
          <a:stretch xmlns:a="http://schemas.openxmlformats.org/drawingml/2006/main"/>
        </p:blipFill>
        <p:spPr>
          <a:xfrm xmlns:a="http://schemas.openxmlformats.org/drawingml/2006/main">
            <a:off x="2133600" y="1609725"/>
            <a:ext cx="786765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D530B-CE2E-4A60-931F-AFA53FB4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第 7 行：沿前 final_code = 3535，沿后 A20 增加 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575FC-F167-4937-90A6-33098856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8,263 组序列：全部八个状态逐转换匹配独立参考。</a:t>
            </a:r>
          </a:p>
          <a:p xmlns:a="http://schemas.openxmlformats.org/drawingml/2006/main">
            <a:pPr>
              <a:defRPr sz="16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RTL 与综合网表各通过 8,391 组输出检查、等量空闲周期及 128 行复位重放。</a:t>
            </a:r>
          </a:p>
        </p:txBody>
      </p:sp>
    </p:spTree>
    <p:extLst>
      <p:ext uri="{BB962C8B-B14F-4D97-AF65-F5344CB8AC3E}">
        <p14:creationId xmlns:p14="http://schemas.microsoft.com/office/powerpoint/2010/main" val="1283444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BBC8E-7763-4C8E-A1D6-51020A02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ADC 课题进度   2026.10.11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73F7A-FBF1-46F6-97AE-C1BC5E80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已有行为数据表明校准改善了该静态模型的频谱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B6705-A6EE-49EC-B41F-CC1FD99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120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匹配主辅、人工三次传输、浮点 full120。训练 1,000,080 次，测试 97.75390625 MHz。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DF80D-4C70-4C90-8261-AFE3F4B5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来源：simulink_adc/reduced_summary.json、performance_reduced_protocol.json、已有独立 MATLAB FFT 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B54C8-2877-473A-AA47-C88C147B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7D3BF-DE3B-40CC-AAFD-7109D38B99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2bda2ab73487e"/>
          <a:stretch xmlns:a="http://schemas.openxmlformats.org/drawingml/2006/main"/>
        </p:blipFill>
        <p:spPr>
          <a:xfrm xmlns:a="http://schemas.openxmlformats.org/drawingml/2006/main">
            <a:off x="419100" y="1770307"/>
            <a:ext cx="7219950" cy="3517412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352B8-E791-498C-8CD0-899263ED276E}"/>
              </a:ext>
            </a:extLst>
          </p:cNvPr>
          <p:cNvGraphicFramePr/>
          <p:nvPr/>
        </p:nvGraphicFramePr>
        <p:xfrm>
          <a:off xmlns:a="http://schemas.openxmlformats.org/drawingml/2006/main" x="7858125" y="1933575"/>
          <a:ext xmlns:a="http://schemas.openxmlformats.org/drawingml/2006/main" cx="382905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1114425"/>
                <a:gridCol w="1114425"/>
              </a:tblGrid>
              <a:tr h="6762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校准前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终点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SNDR / dB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45.2334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61.4768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SFDR / dBc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53.0304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78.9052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2240-78C3-4969-9299-F0488839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67200"/>
            <a:ext cx="3600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rPr>
              <a:t>60 万次 SNDR 为 62.0431 dB，</a:t>
            </a:r>
          </a:p>
          <a:p xmlns:a="http://schemas.openxmlformats.org/drawingml/2006/main">
            <a:pPr>
              <a:defRPr sz="165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rPr>
              <a:t>终点出现回落。第三、第四段</a:t>
            </a:r>
          </a:p>
          <a:p xmlns:a="http://schemas.openxmlformats.org/drawingml/2006/main">
            <a:pPr>
              <a:defRPr sz="165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F501E"/>
                </a:solidFill>
                <a:latin typeface="Microsoft YaHei"/>
                <a:ea typeface="Microsoft YaHei"/>
                <a:cs typeface="Microsoft YaHei"/>
              </a:rPr>
              <a:t>均缺少对应学习门支持。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97309-8D41-4557-9782-3047F420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4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这组性能采用浮点窗口累计。当前 FPGA 候选采用定点逐转换更新，</a:t>
            </a:r>
          </a:p>
          <a:p xmlns:a="http://schemas.openxmlformats.org/drawingml/2006/main">
            <a:pPr>
              <a:defRPr sz="1725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硬件闭环频谱仍需对齐数值和调度合同后验证。</a:t>
            </a:r>
          </a:p>
        </p:txBody>
      </p:sp>
    </p:spTree>
    <p:extLst>
      <p:ext uri="{BB962C8B-B14F-4D97-AF65-F5344CB8AC3E}">
        <p14:creationId xmlns:p14="http://schemas.microsoft.com/office/powerpoint/2010/main" val="1181040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0E22C-B7BA-4DA7-BD62-CE396D7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ADC 课题进度   2026.10.11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EE118-A605-4B28-8D6F-0CD88CF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当前可复现的进度，以及需要老师判断的电路问题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A400B-461E-4CEE-BC3C-1F0E5D0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120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汇报现场可打开 Simulink 信号链、Vivado 电路图，并重跑数字短测试。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E79C9-1375-4D67-8890-07EF3DD6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随附：6 页材料、.xpr、结构网表、波形、工具报告、源哈希和复现说明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CB101-ACE1-4BB6-B80B-76AC2162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B72F9-BC28-4A72-894F-05536C464BF3}"/>
              </a:ext>
            </a:extLst>
          </p:cNvPr>
          <p:cNvGraphicFramePr/>
          <p:nvPr/>
        </p:nvGraphicFramePr>
        <p:xfrm>
          <a:off xmlns:a="http://schemas.openxmlformats.org/drawingml/2006/main" x="514350" y="1781175"/>
          <a:ext xmlns:a="http://schemas.openxmlformats.org/drawingml/2006/main" cx="1114425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143375"/>
                <a:gridCol w="4762500"/>
              </a:tblGrid>
              <a:tr h="7000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目前证据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尚待验证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 结构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主辅信号流与可编辑模型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真实负载、建立过程、噪声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数字校准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定点 RTL、时钟状态、FPGA 网表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MHz 时序与四路调度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冻结浮点行为曲线和独立 FFT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定点硬件闭环与硅后数据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7412B-DF85-4EB9-BFBB-482636B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114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首先讨论：辅路是否准确表征主路残差？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5F2E4-72B9-4DD8-B9A1-1C35032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若能取得实验室现有残差放大器拓扑与 PDK，下一步可检查真实负载下的传输和建立。</a:t>
            </a:r>
          </a:p>
          <a:p xmlns:a="http://schemas.openxmlformats.org/drawingml/2006/main">
            <a:pPr>
              <a:def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数字路径的流水化或更新调度需要另行确定，不能直接改动本轮候选。</a:t>
            </a:r>
          </a:p>
        </p:txBody>
      </p:sp>
    </p:spTree>
    <p:extLst>
      <p:ext uri="{BB962C8B-B14F-4D97-AF65-F5344CB8AC3E}">
        <p14:creationId xmlns:p14="http://schemas.microsoft.com/office/powerpoint/2010/main" val="79680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2026-10-11T03:39:13.2590000Z</dcterms:created>
  <dcterms:modified xsi:type="dcterms:W3CDTF">2026-10-11T03:39:13.2590000Z</dcterms:modified>
</coreProperties>
</file>